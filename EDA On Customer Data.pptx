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4"/>
  </p:notesMasterIdLst>
  <p:sldIdLst>
    <p:sldId id="256" r:id="rId2"/>
    <p:sldId id="267" r:id="rId3"/>
    <p:sldId id="257" r:id="rId4"/>
    <p:sldId id="263" r:id="rId5"/>
    <p:sldId id="264" r:id="rId6"/>
    <p:sldId id="258" r:id="rId7"/>
    <p:sldId id="259" r:id="rId8"/>
    <p:sldId id="260" r:id="rId9"/>
    <p:sldId id="261" r:id="rId10"/>
    <p:sldId id="262"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93" autoAdjust="0"/>
  </p:normalViewPr>
  <p:slideViewPr>
    <p:cSldViewPr snapToGrid="0">
      <p:cViewPr varScale="1">
        <p:scale>
          <a:sx n="76" d="100"/>
          <a:sy n="76"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h-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9E6C4-361E-4782-A7CE-0B0B24A402DC}" type="datetimeFigureOut">
              <a:rPr lang="th-TH" smtClean="0"/>
              <a:t>09/03/69</a:t>
            </a:fld>
            <a:endParaRPr lang="th-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h-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h-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FA0E1-9DC0-4984-AED9-C126D72DCE38}" type="slidenum">
              <a:rPr lang="th-TH" smtClean="0"/>
              <a:t>‹#›</a:t>
            </a:fld>
            <a:endParaRPr lang="th-TH"/>
          </a:p>
        </p:txBody>
      </p:sp>
    </p:spTree>
    <p:extLst>
      <p:ext uri="{BB962C8B-B14F-4D97-AF65-F5344CB8AC3E}">
        <p14:creationId xmlns:p14="http://schemas.microsoft.com/office/powerpoint/2010/main" val="3713159728"/>
      </p:ext>
    </p:extLst>
  </p:cSld>
  <p:clrMap bg1="lt1" tx1="dk1" bg2="lt2" tx2="dk2" accent1="accent1" accent2="accent2" accent3="accent3" accent4="accent4" accent5="accent5" accent6="accent6" hlink="hlink" folHlink="folHlink"/>
  <p:notes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451A5"/>
                </a:solidFill>
                <a:effectLst/>
                <a:latin typeface="Consolas" panose="020B0609020204030204" pitchFamily="49" charset="0"/>
              </a:rPr>
              <a:t>1.</a:t>
            </a:r>
            <a:r>
              <a:rPr lang="en-US" b="0" dirty="0">
                <a:solidFill>
                  <a:srgbClr val="3B3B3B"/>
                </a:solidFill>
                <a:effectLst/>
                <a:latin typeface="Consolas" panose="020B0609020204030204" pitchFamily="49" charset="0"/>
              </a:rPr>
              <a:t> Age Distribution Analysis The age distribution analysis reveals a remarkably balanced demographic profile within the customer base.</a:t>
            </a:r>
          </a:p>
          <a:p>
            <a:pPr marL="285750" indent="-285750">
              <a:buFontTx/>
              <a:buChar char="-"/>
            </a:pPr>
            <a:r>
              <a:rPr lang="en-US" b="0" dirty="0">
                <a:solidFill>
                  <a:srgbClr val="800000"/>
                </a:solidFill>
                <a:effectLst/>
                <a:latin typeface="Consolas" panose="020B0609020204030204" pitchFamily="49" charset="0"/>
              </a:rPr>
              <a:t>Central Tendency</a:t>
            </a:r>
            <a:r>
              <a:rPr lang="en-US" b="0" dirty="0">
                <a:solidFill>
                  <a:srgbClr val="3B3B3B"/>
                </a:solidFill>
                <a:effectLst/>
                <a:latin typeface="Consolas" panose="020B0609020204030204" pitchFamily="49" charset="0"/>
              </a:rPr>
              <a:t>: </a:t>
            </a:r>
          </a:p>
          <a:p>
            <a:pPr marL="285750" indent="-285750">
              <a:buFontTx/>
              <a:buChar char="-"/>
            </a:pPr>
            <a:r>
              <a:rPr lang="en-US" b="0" dirty="0">
                <a:solidFill>
                  <a:srgbClr val="3B3B3B"/>
                </a:solidFill>
                <a:effectLst/>
                <a:latin typeface="Consolas" panose="020B0609020204030204" pitchFamily="49" charset="0"/>
              </a:rPr>
              <a:t>Mean ($</a:t>
            </a:r>
            <a:r>
              <a:rPr lang="en-US" b="0" dirty="0">
                <a:solidFill>
                  <a:srgbClr val="098658"/>
                </a:solidFill>
                <a:effectLst/>
                <a:latin typeface="Consolas" panose="020B0609020204030204" pitchFamily="49" charset="0"/>
              </a:rPr>
              <a:t>43.14</a:t>
            </a:r>
            <a:r>
              <a:rPr lang="en-US" b="0" dirty="0">
                <a:solidFill>
                  <a:srgbClr val="3B3B3B"/>
                </a:solidFill>
                <a:effectLst/>
                <a:latin typeface="Consolas" panose="020B0609020204030204" pitchFamily="49" charset="0"/>
              </a:rPr>
              <a:t>$): The mathematical average age of customers. </a:t>
            </a:r>
          </a:p>
          <a:p>
            <a:pPr marL="285750" indent="-285750">
              <a:buFontTx/>
              <a:buChar char="-"/>
            </a:pPr>
            <a:r>
              <a:rPr lang="en-US" b="0" dirty="0">
                <a:solidFill>
                  <a:srgbClr val="3B3B3B"/>
                </a:solidFill>
                <a:effectLst/>
                <a:latin typeface="Consolas" panose="020B0609020204030204" pitchFamily="49" charset="0"/>
              </a:rPr>
              <a:t>Median ($</a:t>
            </a:r>
            <a:r>
              <a:rPr lang="en-US" b="0" dirty="0">
                <a:solidFill>
                  <a:srgbClr val="098658"/>
                </a:solidFill>
                <a:effectLst/>
                <a:latin typeface="Consolas" panose="020B0609020204030204" pitchFamily="49" charset="0"/>
              </a:rPr>
              <a:t>43.00</a:t>
            </a:r>
            <a:r>
              <a:rPr lang="en-US" b="0" dirty="0">
                <a:solidFill>
                  <a:srgbClr val="3B3B3B"/>
                </a:solidFill>
                <a:effectLst/>
                <a:latin typeface="Consolas" panose="020B0609020204030204" pitchFamily="49" charset="0"/>
              </a:rPr>
              <a:t>$): The exact middle value, where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of customers are older and </a:t>
            </a:r>
            <a:r>
              <a:rPr lang="en-US" b="0" dirty="0">
                <a:solidFill>
                  <a:srgbClr val="098658"/>
                </a:solidFill>
                <a:effectLst/>
                <a:latin typeface="Consolas" panose="020B0609020204030204" pitchFamily="49" charset="0"/>
              </a:rPr>
              <a:t>50</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are younger.</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Distribution Shape and Symmetry</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Because the mean and median are nearly identical (differing by only $</a:t>
            </a:r>
            <a:r>
              <a:rPr lang="en-US" b="0" dirty="0">
                <a:solidFill>
                  <a:srgbClr val="098658"/>
                </a:solidFill>
                <a:effectLst/>
                <a:latin typeface="Consolas" panose="020B0609020204030204" pitchFamily="49" charset="0"/>
              </a:rPr>
              <a:t>0.14</a:t>
            </a:r>
            <a:r>
              <a:rPr lang="en-US" b="0" dirty="0">
                <a:solidFill>
                  <a:srgbClr val="3B3B3B"/>
                </a:solidFill>
                <a:effectLst/>
                <a:latin typeface="Consolas" panose="020B0609020204030204" pitchFamily="49" charset="0"/>
              </a:rPr>
              <a:t>$ units), the distribution is considered highly symmetric.</a:t>
            </a:r>
          </a:p>
          <a:p>
            <a:r>
              <a:rPr lang="en-US" b="0" dirty="0">
                <a:solidFill>
                  <a:srgbClr val="3B3B3B"/>
                </a:solidFill>
                <a:effectLst/>
                <a:latin typeface="Consolas" panose="020B0609020204030204" pitchFamily="49" charset="0"/>
              </a:rPr>
              <a:t>  The Kernel Density Estimate (KDE) curve shows a relatively flat profile across the 20–65 age range, indicating a uniform-like distribution rather than a standard normal (bell-shaped) curve.</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Outliers and Spikes</a:t>
            </a:r>
            <a:r>
              <a:rPr lang="en-US" b="0" dirty="0">
                <a:solidFill>
                  <a:srgbClr val="3B3B3B"/>
                </a:solidFill>
                <a:effectLst/>
                <a:latin typeface="Consolas" panose="020B0609020204030204" pitchFamily="49" charset="0"/>
              </a:rPr>
              <a:t>: There is a significant frequency spike at the upper bound (age $</a:t>
            </a:r>
            <a:r>
              <a:rPr lang="en-US" b="0" dirty="0">
                <a:solidFill>
                  <a:srgbClr val="098658"/>
                </a:solidFill>
                <a:effectLst/>
                <a:latin typeface="Consolas" panose="020B0609020204030204" pitchFamily="49" charset="0"/>
              </a:rPr>
              <a:t>69</a:t>
            </a:r>
            <a:r>
              <a:rPr lang="en-US" b="0" dirty="0">
                <a:solidFill>
                  <a:srgbClr val="3B3B3B"/>
                </a:solidFill>
                <a:effectLst/>
                <a:latin typeface="Consolas" panose="020B0609020204030204" pitchFamily="49" charset="0"/>
              </a:rPr>
              <a:t>$), with the count exceeding $</a:t>
            </a:r>
            <a:r>
              <a:rPr lang="en-US" b="0" dirty="0">
                <a:solidFill>
                  <a:srgbClr val="098658"/>
                </a:solidFill>
                <a:effectLst/>
                <a:latin typeface="Consolas" panose="020B0609020204030204" pitchFamily="49" charset="0"/>
              </a:rPr>
              <a:t>200</a:t>
            </a:r>
            <a:r>
              <a:rPr lang="en-US" b="0" dirty="0">
                <a:solidFill>
                  <a:srgbClr val="3B3B3B"/>
                </a:solidFill>
                <a:effectLst/>
                <a:latin typeface="Consolas" panose="020B0609020204030204" pitchFamily="49" charset="0"/>
              </a:rPr>
              <a:t>$. A secondary spike appears in the early 20s. These suggest that while the middle age groups are evenly spread, the dataset has high representation at the extreme ends of the age spectrum.</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3</a:t>
            </a:fld>
            <a:endParaRPr lang="th-TH"/>
          </a:p>
        </p:txBody>
      </p:sp>
    </p:spTree>
    <p:extLst>
      <p:ext uri="{BB962C8B-B14F-4D97-AF65-F5344CB8AC3E}">
        <p14:creationId xmlns:p14="http://schemas.microsoft.com/office/powerpoint/2010/main" val="2350233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451A5"/>
                </a:solidFill>
                <a:effectLst/>
                <a:latin typeface="Consolas" panose="020B0609020204030204" pitchFamily="49" charset="0"/>
              </a:rPr>
              <a:t>2.</a:t>
            </a:r>
            <a:r>
              <a:rPr lang="en-US" b="0" dirty="0">
                <a:solidFill>
                  <a:srgbClr val="3B3B3B"/>
                </a:solidFill>
                <a:effectLst/>
                <a:latin typeface="Consolas" panose="020B0609020204030204" pitchFamily="49" charset="0"/>
              </a:rPr>
              <a:t> Amount Spent Distribution Analysis The spending habits of the customers follow a distinct pattern characterized by its evenness across all price points.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Central Tendency</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Mean ($</a:t>
            </a:r>
            <a:r>
              <a:rPr lang="en-US" b="0" dirty="0">
                <a:solidFill>
                  <a:srgbClr val="098658"/>
                </a:solidFill>
                <a:effectLst/>
                <a:latin typeface="Consolas" panose="020B0609020204030204" pitchFamily="49" charset="0"/>
              </a:rPr>
              <a:t>254.35</a:t>
            </a:r>
            <a:r>
              <a:rPr lang="en-US" b="0" dirty="0">
                <a:solidFill>
                  <a:srgbClr val="3B3B3B"/>
                </a:solidFill>
                <a:effectLst/>
                <a:latin typeface="Consolas" panose="020B0609020204030204" pitchFamily="49" charset="0"/>
              </a:rPr>
              <a:t>$): The average dollar amount spent per transaction.</a:t>
            </a:r>
          </a:p>
          <a:p>
            <a:r>
              <a:rPr lang="en-US" b="0" dirty="0">
                <a:solidFill>
                  <a:srgbClr val="3B3B3B"/>
                </a:solidFill>
                <a:effectLst/>
                <a:latin typeface="Consolas" panose="020B0609020204030204" pitchFamily="49" charset="0"/>
              </a:rPr>
              <a:t>    Median ($</a:t>
            </a:r>
            <a:r>
              <a:rPr lang="en-US" b="0" dirty="0">
                <a:solidFill>
                  <a:srgbClr val="098658"/>
                </a:solidFill>
                <a:effectLst/>
                <a:latin typeface="Consolas" panose="020B0609020204030204" pitchFamily="49" charset="0"/>
              </a:rPr>
              <a:t>255.18</a:t>
            </a:r>
            <a:r>
              <a:rPr lang="en-US" b="0" dirty="0">
                <a:solidFill>
                  <a:srgbClr val="3B3B3B"/>
                </a:solidFill>
                <a:effectLst/>
                <a:latin typeface="Consolas" panose="020B0609020204030204" pitchFamily="49" charset="0"/>
              </a:rPr>
              <a:t>): The middle point of all spending values.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Skewness and Balance</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The Mean is slightly lower than the Median ($</a:t>
            </a:r>
            <a:r>
              <a:rPr lang="en-US" b="0" dirty="0">
                <a:solidFill>
                  <a:srgbClr val="098658"/>
                </a:solidFill>
                <a:effectLst/>
                <a:latin typeface="Consolas" panose="020B0609020204030204" pitchFamily="49" charset="0"/>
              </a:rPr>
              <a:t>254.35</a:t>
            </a:r>
            <a:r>
              <a:rPr lang="en-US" b="0" dirty="0">
                <a:solidFill>
                  <a:srgbClr val="000000"/>
                </a:solidFill>
                <a:effectLst/>
                <a:latin typeface="Consolas" panose="020B0609020204030204" pitchFamily="49" charset="0"/>
              </a:rPr>
              <a:t> &lt; </a:t>
            </a:r>
            <a:r>
              <a:rPr lang="en-US" b="0" dirty="0">
                <a:solidFill>
                  <a:srgbClr val="098658"/>
                </a:solidFill>
                <a:effectLst/>
                <a:latin typeface="Consolas" panose="020B0609020204030204" pitchFamily="49" charset="0"/>
              </a:rPr>
              <a:t>255.18</a:t>
            </a:r>
            <a:r>
              <a:rPr lang="en-US" b="0" dirty="0">
                <a:solidFill>
                  <a:srgbClr val="3B3B3B"/>
                </a:solidFill>
                <a:effectLst/>
                <a:latin typeface="Consolas" panose="020B0609020204030204" pitchFamily="49" charset="0"/>
              </a:rPr>
              <a:t>$), which mathematically indicates a very negligible left skew.</a:t>
            </a:r>
          </a:p>
          <a:p>
            <a:r>
              <a:rPr lang="en-US" b="0" dirty="0">
                <a:solidFill>
                  <a:srgbClr val="3B3B3B"/>
                </a:solidFill>
                <a:effectLst/>
                <a:latin typeface="Consolas" panose="020B0609020204030204" pitchFamily="49" charset="0"/>
              </a:rPr>
              <a:t>    However, because they are within $</a:t>
            </a:r>
            <a:r>
              <a:rPr lang="en-US" b="0" dirty="0">
                <a:solidFill>
                  <a:srgbClr val="098658"/>
                </a:solidFill>
                <a:effectLst/>
                <a:latin typeface="Consolas" panose="020B0609020204030204" pitchFamily="49" charset="0"/>
              </a:rPr>
              <a:t>0.83</a:t>
            </a:r>
            <a:r>
              <a:rPr lang="en-US" b="0" dirty="0">
                <a:solidFill>
                  <a:srgbClr val="3B3B3B"/>
                </a:solidFill>
                <a:effectLst/>
                <a:latin typeface="Consolas" panose="020B0609020204030204" pitchFamily="49" charset="0"/>
              </a:rPr>
              <a:t> units of each other on a $</a:t>
            </a:r>
            <a:r>
              <a:rPr lang="en-US" b="0" dirty="0">
                <a:solidFill>
                  <a:srgbClr val="098658"/>
                </a:solidFill>
                <a:effectLst/>
                <a:latin typeface="Consolas" panose="020B0609020204030204" pitchFamily="49" charset="0"/>
              </a:rPr>
              <a:t>500</a:t>
            </a:r>
            <a:r>
              <a:rPr lang="en-US" b="0" dirty="0">
                <a:solidFill>
                  <a:srgbClr val="3B3B3B"/>
                </a:solidFill>
                <a:effectLst/>
                <a:latin typeface="Consolas" panose="020B0609020204030204" pitchFamily="49" charset="0"/>
              </a:rPr>
              <a:t>-unit scale, the distribution is effectively symmetric for all practical analytical purposes.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`Uniformity`</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The histogram bars maintain a consistent height (mostly between $</a:t>
            </a:r>
            <a:r>
              <a:rPr lang="en-US" b="0" dirty="0">
                <a:solidFill>
                  <a:srgbClr val="098658"/>
                </a:solidFill>
                <a:effectLst/>
                <a:latin typeface="Consolas" panose="020B0609020204030204" pitchFamily="49" charset="0"/>
              </a:rPr>
              <a:t>100</a:t>
            </a:r>
            <a:r>
              <a:rPr lang="en-US" b="0" dirty="0">
                <a:solidFill>
                  <a:srgbClr val="3B3B3B"/>
                </a:solidFill>
                <a:effectLst/>
                <a:latin typeface="Consolas" panose="020B0609020204030204" pitchFamily="49" charset="0"/>
              </a:rPr>
              <a:t> and $</a:t>
            </a:r>
            <a:r>
              <a:rPr lang="en-US" b="0" dirty="0">
                <a:solidFill>
                  <a:srgbClr val="098658"/>
                </a:solidFill>
                <a:effectLst/>
                <a:latin typeface="Consolas" panose="020B0609020204030204" pitchFamily="49" charset="0"/>
              </a:rPr>
              <a:t>120</a:t>
            </a:r>
            <a:r>
              <a:rPr lang="en-US" b="0" dirty="0">
                <a:solidFill>
                  <a:srgbClr val="3B3B3B"/>
                </a:solidFill>
                <a:effectLst/>
                <a:latin typeface="Consolas" panose="020B0609020204030204" pitchFamily="49" charset="0"/>
              </a:rPr>
              <a:t> counts) across the entire x-axis.</a:t>
            </a:r>
          </a:p>
          <a:p>
            <a:r>
              <a:rPr lang="en-US" b="0" dirty="0">
                <a:solidFill>
                  <a:srgbClr val="3B3B3B"/>
                </a:solidFill>
                <a:effectLst/>
                <a:latin typeface="Consolas" panose="020B0609020204030204" pitchFamily="49" charset="0"/>
              </a:rPr>
              <a:t>    This confirms a Uniform Distribution, meaning there is no "typical" spending amount; a customer is just as likely to spend </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50</a:t>
            </a:r>
            <a:r>
              <a:rPr lang="en-US" b="0" dirty="0">
                <a:solidFill>
                  <a:srgbClr val="3B3B3B"/>
                </a:solidFill>
                <a:effectLst/>
                <a:latin typeface="Consolas" panose="020B0609020204030204" pitchFamily="49" charset="0"/>
              </a:rPr>
              <a:t> as they are </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450</a:t>
            </a:r>
            <a:r>
              <a:rPr lang="en-US" b="0" dirty="0">
                <a:solidFill>
                  <a:srgbClr val="3B3B3B"/>
                </a:solidFill>
                <a:effectLst/>
                <a:latin typeface="Consolas" panose="020B0609020204030204" pitchFamily="49" charset="0"/>
              </a:rPr>
              <a:t>.</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4</a:t>
            </a:fld>
            <a:endParaRPr lang="th-TH"/>
          </a:p>
        </p:txBody>
      </p:sp>
    </p:spTree>
    <p:extLst>
      <p:ext uri="{BB962C8B-B14F-4D97-AF65-F5344CB8AC3E}">
        <p14:creationId xmlns:p14="http://schemas.microsoft.com/office/powerpoint/2010/main" val="4082493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451A5"/>
                </a:solidFill>
                <a:effectLst/>
                <a:latin typeface="Consolas" panose="020B0609020204030204" pitchFamily="49" charset="0"/>
              </a:rPr>
              <a:t>1.</a:t>
            </a:r>
            <a:r>
              <a:rPr lang="en-US" b="0" dirty="0">
                <a:solidFill>
                  <a:srgbClr val="3B3B3B"/>
                </a:solidFill>
                <a:effectLst/>
                <a:latin typeface="Consolas" panose="020B0609020204030204" pitchFamily="49" charset="0"/>
              </a:rPr>
              <a:t> Distribution Shape and Density The Login Frequency histogram reveals a more complex pattern than the previous variables, moving away from perfect uniformity.</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Bimodal Tendency</a:t>
            </a:r>
            <a:r>
              <a:rPr lang="en-US" b="0" dirty="0">
                <a:solidFill>
                  <a:srgbClr val="3B3B3B"/>
                </a:solidFill>
                <a:effectLst/>
                <a:latin typeface="Consolas" panose="020B0609020204030204" pitchFamily="49" charset="0"/>
              </a:rPr>
              <a:t>: Unlike the flat spread of Amount Spent, the KDE (Kernel Density Estimate) curve for Login Frequency shows two distinct regions of concentration. There is a smaller "hump" at the lower end (around 5–10 logins) and a broader, more dominant peak at the higher end (between 30 and 45 logins).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Density "Valley"</a:t>
            </a:r>
            <a:r>
              <a:rPr lang="en-US" b="0" dirty="0">
                <a:solidFill>
                  <a:srgbClr val="3B3B3B"/>
                </a:solidFill>
                <a:effectLst/>
                <a:latin typeface="Consolas" panose="020B0609020204030204" pitchFamily="49" charset="0"/>
              </a:rPr>
              <a:t>: There is a clear dip in customer density in the middle of the range. Between 15 and 22 logins, the counts consistently drop below 100 customers per bin, indicating a gap between "infrequent" and "frequent" users.</a:t>
            </a:r>
          </a:p>
          <a:p>
            <a:r>
              <a:rPr lang="en-US" b="0" dirty="0">
                <a:solidFill>
                  <a:srgbClr val="3B3B3B"/>
                </a:solidFill>
                <a:effectLst/>
                <a:latin typeface="Consolas" panose="020B0609020204030204" pitchFamily="49" charset="0"/>
              </a:rPr>
              <a:t>Engagement Spikes: The chart shows extreme spikes in activity. The highest frequencies occur at approximately 31, 43, and 48 logins, where customer counts exceed 175 per bin. This suggests a robust segment of "power users" who engage with the platform almost daily.</a:t>
            </a:r>
          </a:p>
          <a:p>
            <a:r>
              <a:rPr lang="en-US" b="0" dirty="0">
                <a:solidFill>
                  <a:srgbClr val="0451A5"/>
                </a:solidFill>
                <a:effectLst/>
                <a:latin typeface="Consolas" panose="020B0609020204030204" pitchFamily="49" charset="0"/>
              </a:rPr>
              <a:t>2.</a:t>
            </a:r>
            <a:r>
              <a:rPr lang="en-US" b="0" dirty="0">
                <a:solidFill>
                  <a:srgbClr val="3B3B3B"/>
                </a:solidFill>
                <a:effectLst/>
                <a:latin typeface="Consolas" panose="020B0609020204030204" pitchFamily="49" charset="0"/>
              </a:rPr>
              <a:t> Central Tendency and Skewness The relationship between the mean and median here provides the most significant statistical insight into customer behavior.</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Mean ($25.92)</a:t>
            </a:r>
            <a:r>
              <a:rPr lang="en-US" b="0" dirty="0">
                <a:solidFill>
                  <a:srgbClr val="3B3B3B"/>
                </a:solidFill>
                <a:effectLst/>
                <a:latin typeface="Consolas" panose="020B0609020204030204" pitchFamily="49" charset="0"/>
              </a:rPr>
              <a:t>: The arithmetic average of all login sessions.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Median ($27.00)</a:t>
            </a:r>
            <a:r>
              <a:rPr lang="en-US" b="0" dirty="0">
                <a:solidFill>
                  <a:srgbClr val="3B3B3B"/>
                </a:solidFill>
                <a:effectLst/>
                <a:latin typeface="Consolas" panose="020B0609020204030204" pitchFamily="49" charset="0"/>
              </a:rPr>
              <a:t>: The middle point of the data; exactly 50% of customers log in 27 times or more.</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Mathematical Skewness</a:t>
            </a:r>
            <a:r>
              <a:rPr lang="en-US" b="0" dirty="0">
                <a:solidFill>
                  <a:srgbClr val="3B3B3B"/>
                </a:solidFill>
                <a:effectLst/>
                <a:latin typeface="Consolas" panose="020B0609020204030204" pitchFamily="49" charset="0"/>
              </a:rPr>
              <a:t>: Because the Mean is less than the Median ($</a:t>
            </a:r>
            <a:r>
              <a:rPr lang="en-US" b="0" dirty="0">
                <a:solidFill>
                  <a:srgbClr val="098658"/>
                </a:solidFill>
                <a:effectLst/>
                <a:latin typeface="Consolas" panose="020B0609020204030204" pitchFamily="49" charset="0"/>
              </a:rPr>
              <a:t>25.92</a:t>
            </a:r>
            <a:r>
              <a:rPr lang="en-US" b="0" dirty="0">
                <a:solidFill>
                  <a:srgbClr val="000000"/>
                </a:solidFill>
                <a:effectLst/>
                <a:latin typeface="Consolas" panose="020B0609020204030204" pitchFamily="49" charset="0"/>
              </a:rPr>
              <a:t> &lt; </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27.00</a:t>
            </a:r>
            <a:r>
              <a:rPr lang="en-US" b="0" dirty="0">
                <a:solidFill>
                  <a:srgbClr val="3B3B3B"/>
                </a:solidFill>
                <a:effectLst/>
                <a:latin typeface="Consolas" panose="020B0609020204030204" pitchFamily="49" charset="0"/>
              </a:rPr>
              <a:t>), this distribution is Negatively Skewed (Left-Skewed).</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Interpretation</a:t>
            </a:r>
            <a:r>
              <a:rPr lang="en-US" b="0" dirty="0">
                <a:solidFill>
                  <a:srgbClr val="3B3B3B"/>
                </a:solidFill>
                <a:effectLst/>
                <a:latin typeface="Consolas" panose="020B0609020204030204" pitchFamily="49" charset="0"/>
              </a:rPr>
              <a:t>: In a left-skewed distribution, the "tail" is pulled toward the lower values (the left) by a smaller group of low-frequency users. However, the higher median shows that the majority of the population is actually concentrated on the right side of the graph (higher login counts).</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5</a:t>
            </a:fld>
            <a:endParaRPr lang="th-TH"/>
          </a:p>
        </p:txBody>
      </p:sp>
    </p:spTree>
    <p:extLst>
      <p:ext uri="{BB962C8B-B14F-4D97-AF65-F5344CB8AC3E}">
        <p14:creationId xmlns:p14="http://schemas.microsoft.com/office/powerpoint/2010/main" val="244000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visualization is a stacked bar chart representing the relationship between Gender and Marital Status. Because the y-axis is scaled from 0.0 to 1.0, it is specifically a 100% stacked bar chart</a:t>
            </a:r>
          </a:p>
          <a:p>
            <a:r>
              <a:rPr lang="en-US" dirty="0"/>
              <a:t>	Data Breakdown &amp; Distribution By observing the heights of the individual colored segments, we can infer the distribution : Divorced (Bottom Blue): This segment is nearly identical for both genders, taking up roughly 25% of the total for both "F" and "M". </a:t>
            </a:r>
          </a:p>
          <a:p>
            <a:r>
              <a:rPr lang="en-US" dirty="0"/>
              <a:t>Married (Green): This segment is also very similar in size for both genders, accounting for approximately 25% to 27% of each group. Single (Red): This category shows a slight variation. It appears slightly larger in the "M" column than in the "F" column, though both represent roughly 20-22% of their respective totals, Widowed (Top Blue): This segment fills the remainder of the bar, approximately 25-28%</a:t>
            </a:r>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6</a:t>
            </a:fld>
            <a:endParaRPr lang="th-TH"/>
          </a:p>
        </p:txBody>
      </p:sp>
    </p:spTree>
    <p:extLst>
      <p:ext uri="{BB962C8B-B14F-4D97-AF65-F5344CB8AC3E}">
        <p14:creationId xmlns:p14="http://schemas.microsoft.com/office/powerpoint/2010/main" val="1915012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latin typeface="Google Sans Text"/>
              </a:rPr>
              <a:t>Based on the provided data and visualization for the bivariate analysis of </a:t>
            </a:r>
            <a:r>
              <a:rPr lang="en-US" b="1" dirty="0">
                <a:effectLst/>
                <a:latin typeface="Google Sans Text"/>
              </a:rPr>
              <a:t>Gender vs. Income Level</a:t>
            </a:r>
            <a:r>
              <a:rPr lang="en-US" dirty="0">
                <a:effectLst/>
                <a:latin typeface="Google Sans Text"/>
              </a:rPr>
              <a:t>, here is a detailed and explicit explanation:</a:t>
            </a:r>
          </a:p>
          <a:p>
            <a:r>
              <a:rPr lang="en-US" b="1" dirty="0">
                <a:effectLst/>
                <a:latin typeface="Google Sans Text"/>
              </a:rPr>
              <a:t>1. Visual Component: Grouped Bar Chart</a:t>
            </a:r>
            <a:endParaRPr lang="en-US" b="1" dirty="0">
              <a:effectLst/>
              <a:latin typeface="Google Sans"/>
            </a:endParaRPr>
          </a:p>
          <a:p>
            <a:r>
              <a:rPr lang="en-US" dirty="0">
                <a:effectLst/>
                <a:latin typeface="Google Sans Text"/>
              </a:rPr>
              <a:t>The graph is a </a:t>
            </a:r>
            <a:r>
              <a:rPr lang="en-US" b="1" dirty="0">
                <a:effectLst/>
                <a:latin typeface="Google Sans Text"/>
              </a:rPr>
              <a:t>grouped bar chart</a:t>
            </a:r>
            <a:r>
              <a:rPr lang="en-US" dirty="0">
                <a:effectLst/>
                <a:latin typeface="Google Sans Text"/>
              </a:rPr>
              <a:t> (also known as a side-by-side bar chart) that compares the count of individuals across three income levels, separated by gender.</a:t>
            </a:r>
          </a:p>
          <a:p>
            <a:pPr>
              <a:buFont typeface="Arial" panose="020B0604020202020204" pitchFamily="34" charset="0"/>
              <a:buChar char="•"/>
            </a:pPr>
            <a:r>
              <a:rPr lang="en-US" b="1" dirty="0">
                <a:effectLst/>
                <a:latin typeface="Google Sans Text"/>
              </a:rPr>
              <a:t>X-Axis (Categorical):</a:t>
            </a:r>
            <a:r>
              <a:rPr lang="en-US" dirty="0">
                <a:effectLst/>
                <a:latin typeface="Google Sans Text"/>
              </a:rPr>
              <a:t> Groups the data into </a:t>
            </a:r>
            <a:r>
              <a:rPr lang="en-US" b="1" dirty="0">
                <a:effectLst/>
                <a:latin typeface="Google Sans Text"/>
              </a:rPr>
              <a:t>Male (M)</a:t>
            </a:r>
            <a:r>
              <a:rPr lang="en-US" dirty="0">
                <a:effectLst/>
                <a:latin typeface="Google Sans Text"/>
              </a:rPr>
              <a:t> and </a:t>
            </a:r>
            <a:r>
              <a:rPr lang="en-US" b="1" dirty="0">
                <a:effectLst/>
                <a:latin typeface="Google Sans Text"/>
              </a:rPr>
              <a:t>Female (F)</a:t>
            </a:r>
            <a:r>
              <a:rPr lang="en-US" dirty="0">
                <a:effectLst/>
                <a:latin typeface="Google Sans Text"/>
              </a:rPr>
              <a:t>.</a:t>
            </a:r>
          </a:p>
          <a:p>
            <a:pPr>
              <a:buFont typeface="Arial" panose="020B0604020202020204" pitchFamily="34" charset="0"/>
              <a:buChar char="•"/>
            </a:pPr>
            <a:r>
              <a:rPr lang="en-US" b="1" dirty="0">
                <a:effectLst/>
                <a:latin typeface="Google Sans Text"/>
              </a:rPr>
              <a:t>Y-Axis (Numerical):</a:t>
            </a:r>
            <a:r>
              <a:rPr lang="en-US" dirty="0">
                <a:effectLst/>
                <a:latin typeface="Google Sans Text"/>
              </a:rPr>
              <a:t> Represents the </a:t>
            </a:r>
            <a:r>
              <a:rPr lang="en-US" b="1" dirty="0">
                <a:effectLst/>
                <a:latin typeface="Google Sans Text"/>
              </a:rPr>
              <a:t>Count</a:t>
            </a:r>
            <a:r>
              <a:rPr lang="en-US" dirty="0">
                <a:effectLst/>
                <a:latin typeface="Google Sans Text"/>
              </a:rPr>
              <a:t> (frequency) of individuals in each category.</a:t>
            </a:r>
          </a:p>
          <a:p>
            <a:pPr>
              <a:buFont typeface="Arial" panose="020B0604020202020204" pitchFamily="34" charset="0"/>
              <a:buChar char="•"/>
            </a:pPr>
            <a:r>
              <a:rPr lang="en-US" b="1" dirty="0">
                <a:effectLst/>
                <a:latin typeface="Google Sans Text"/>
              </a:rPr>
              <a:t>Color Encoding (</a:t>
            </a:r>
            <a:r>
              <a:rPr lang="en-US" b="1" dirty="0" err="1">
                <a:effectLst/>
                <a:latin typeface="Google Sans Text"/>
              </a:rPr>
              <a:t>IncomeLevel</a:t>
            </a:r>
            <a:r>
              <a:rPr lang="en-US" b="1" dirty="0">
                <a:effectLst/>
                <a:latin typeface="Google Sans Text"/>
              </a:rPr>
              <a:t>):</a:t>
            </a:r>
            <a:endParaRPr lang="en-US" dirty="0">
              <a:effectLst/>
              <a:latin typeface="Google Sans Text"/>
            </a:endParaRPr>
          </a:p>
          <a:p>
            <a:pPr marL="742950" lvl="1" indent="-285750">
              <a:buFont typeface="Arial" panose="020B0604020202020204" pitchFamily="34" charset="0"/>
              <a:buChar char="•"/>
            </a:pPr>
            <a:r>
              <a:rPr lang="en-US" b="1" dirty="0">
                <a:effectLst/>
                <a:latin typeface="Google Sans Text"/>
              </a:rPr>
              <a:t>Dark Blue/Purple:</a:t>
            </a:r>
            <a:r>
              <a:rPr lang="en-US" dirty="0">
                <a:effectLst/>
                <a:latin typeface="Google Sans Text"/>
              </a:rPr>
              <a:t> Low Income</a:t>
            </a:r>
          </a:p>
          <a:p>
            <a:pPr marL="742950" lvl="1" indent="-285750">
              <a:buFont typeface="Arial" panose="020B0604020202020204" pitchFamily="34" charset="0"/>
              <a:buChar char="•"/>
            </a:pPr>
            <a:r>
              <a:rPr lang="en-US" b="1" dirty="0">
                <a:effectLst/>
                <a:latin typeface="Google Sans Text"/>
              </a:rPr>
              <a:t>Teal:</a:t>
            </a:r>
            <a:r>
              <a:rPr lang="en-US" dirty="0">
                <a:effectLst/>
                <a:latin typeface="Google Sans Text"/>
              </a:rPr>
              <a:t> Medium Income</a:t>
            </a:r>
          </a:p>
          <a:p>
            <a:pPr marL="742950" lvl="1" indent="-285750">
              <a:buFont typeface="Arial" panose="020B0604020202020204" pitchFamily="34" charset="0"/>
              <a:buChar char="•"/>
            </a:pPr>
            <a:r>
              <a:rPr lang="en-US" b="1" dirty="0">
                <a:effectLst/>
                <a:latin typeface="Google Sans Text"/>
              </a:rPr>
              <a:t>Light Green:</a:t>
            </a:r>
            <a:r>
              <a:rPr lang="en-US" dirty="0">
                <a:effectLst/>
                <a:latin typeface="Google Sans Text"/>
              </a:rPr>
              <a:t> High Income</a:t>
            </a:r>
          </a:p>
          <a:p>
            <a:r>
              <a:rPr lang="en-US" b="1" dirty="0">
                <a:effectLst/>
                <a:latin typeface="Google Sans Text"/>
              </a:rPr>
              <a:t>Observation:</a:t>
            </a:r>
            <a:r>
              <a:rPr lang="en-US" dirty="0">
                <a:effectLst/>
                <a:latin typeface="Google Sans Text"/>
              </a:rPr>
              <a:t> Visually, the bars for both Male and Female groups are relatively similar in height across all income levels, ranging roughly between </a:t>
            </a:r>
            <a:r>
              <a:rPr lang="en-US" b="1" dirty="0">
                <a:effectLst/>
                <a:latin typeface="Google Sans Text"/>
              </a:rPr>
              <a:t>150 and 175</a:t>
            </a:r>
            <a:r>
              <a:rPr lang="en-US" dirty="0">
                <a:effectLst/>
                <a:latin typeface="Google Sans Text"/>
              </a:rPr>
              <a:t> counts. This suggests a balanced distribution.</a:t>
            </a:r>
          </a:p>
          <a:p>
            <a:r>
              <a:rPr lang="en-US" b="1" dirty="0">
                <a:effectLst/>
                <a:latin typeface="Google Sans Text"/>
              </a:rPr>
              <a:t>2. Statistical Significance: The P-Value</a:t>
            </a:r>
            <a:endParaRPr lang="en-US" b="1" dirty="0">
              <a:effectLst/>
              <a:latin typeface="Google Sans"/>
            </a:endParaRPr>
          </a:p>
          <a:p>
            <a:r>
              <a:rPr lang="en-US" dirty="0">
                <a:effectLst/>
                <a:latin typeface="Google Sans Text"/>
              </a:rPr>
              <a:t>The most critical part of the analysis is the reported </a:t>
            </a:r>
            <a:r>
              <a:rPr lang="en-US" b="1" dirty="0">
                <a:effectLst/>
                <a:latin typeface="Google Sans Text"/>
              </a:rPr>
              <a:t>P-value of 0.7282</a:t>
            </a:r>
            <a:r>
              <a:rPr lang="en-US" dirty="0">
                <a:effectLst/>
                <a:latin typeface="Google Sans Text"/>
              </a:rPr>
              <a:t>.</a:t>
            </a:r>
          </a:p>
          <a:p>
            <a:pPr>
              <a:buFont typeface="Arial" panose="020B0604020202020204" pitchFamily="34" charset="0"/>
              <a:buChar char="•"/>
            </a:pPr>
            <a:r>
              <a:rPr lang="en-US" b="1" dirty="0">
                <a:effectLst/>
                <a:latin typeface="Google Sans Text"/>
              </a:rPr>
              <a:t>The Threshold:</a:t>
            </a:r>
            <a:r>
              <a:rPr lang="en-US" dirty="0">
                <a:effectLst/>
                <a:latin typeface="Google Sans Text"/>
              </a:rPr>
              <a:t> In statistics, a common threshold for significance is </a:t>
            </a:r>
            <a:r>
              <a:rPr lang="en-US" b="1" dirty="0">
                <a:effectLst/>
                <a:latin typeface="Google Sans Text"/>
              </a:rPr>
              <a:t>0.05</a:t>
            </a:r>
            <a:r>
              <a:rPr lang="en-US" dirty="0">
                <a:effectLst/>
                <a:latin typeface="Google Sans Text"/>
              </a:rPr>
              <a:t>.</a:t>
            </a:r>
          </a:p>
          <a:p>
            <a:pPr>
              <a:buFont typeface="Arial" panose="020B0604020202020204" pitchFamily="34" charset="0"/>
              <a:buChar char="•"/>
            </a:pPr>
            <a:r>
              <a:rPr lang="en-US" b="1" dirty="0">
                <a:effectLst/>
                <a:latin typeface="Google Sans Text"/>
              </a:rPr>
              <a:t>Interpretation:</a:t>
            </a:r>
            <a:r>
              <a:rPr lang="en-US" dirty="0">
                <a:effectLst/>
                <a:latin typeface="Google Sans Text"/>
              </a:rPr>
              <a:t> Because $0.7282 &gt; 0.05$, the result is </a:t>
            </a:r>
            <a:r>
              <a:rPr lang="en-US" b="1" dirty="0">
                <a:effectLst/>
                <a:latin typeface="Google Sans Text"/>
              </a:rPr>
              <a:t>not statistically significant</a:t>
            </a:r>
            <a:r>
              <a:rPr lang="en-US" dirty="0">
                <a:effectLst/>
                <a:latin typeface="Google Sans Text"/>
              </a:rPr>
              <a:t>.</a:t>
            </a:r>
          </a:p>
          <a:p>
            <a:pPr>
              <a:buFont typeface="Arial" panose="020B0604020202020204" pitchFamily="34" charset="0"/>
              <a:buChar char="•"/>
            </a:pPr>
            <a:r>
              <a:rPr lang="en-US" b="1" dirty="0">
                <a:effectLst/>
                <a:latin typeface="Google Sans Text"/>
              </a:rPr>
              <a:t>Conclusion:</a:t>
            </a:r>
            <a:r>
              <a:rPr lang="en-US" dirty="0">
                <a:effectLst/>
                <a:latin typeface="Google Sans Text"/>
              </a:rPr>
              <a:t> There is no evidence of a relationship between Gender and Income Level in this dataset. In plain English, knowing a person's gender does not help you predict their income level any better than random guessing.</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7</a:t>
            </a:fld>
            <a:endParaRPr lang="th-TH"/>
          </a:p>
        </p:txBody>
      </p:sp>
    </p:spTree>
    <p:extLst>
      <p:ext uri="{BB962C8B-B14F-4D97-AF65-F5344CB8AC3E}">
        <p14:creationId xmlns:p14="http://schemas.microsoft.com/office/powerpoint/2010/main" val="3825878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3B3B3B"/>
                </a:solidFill>
                <a:effectLst/>
                <a:latin typeface="Consolas" panose="020B0609020204030204" pitchFamily="49" charset="0"/>
              </a:rPr>
              <a:t>Age vs. </a:t>
            </a:r>
            <a:r>
              <a:rPr lang="en-US" b="0" dirty="0" err="1">
                <a:solidFill>
                  <a:srgbClr val="3B3B3B"/>
                </a:solidFill>
                <a:effectLst/>
                <a:latin typeface="Consolas" panose="020B0609020204030204" pitchFamily="49" charset="0"/>
              </a:rPr>
              <a:t>IncomeLevel</a:t>
            </a:r>
            <a:r>
              <a:rPr lang="en-US" b="0" dirty="0">
                <a:solidFill>
                  <a:srgbClr val="3B3B3B"/>
                </a:solidFill>
                <a:effectLst/>
                <a:latin typeface="Consolas" panose="020B0609020204030204" pitchFamily="49" charset="0"/>
              </a:rPr>
              <a:t> (Box Plot)</a:t>
            </a:r>
          </a:p>
          <a:p>
            <a:r>
              <a:rPr lang="en-US" b="0" dirty="0">
                <a:solidFill>
                  <a:srgbClr val="3B3B3B"/>
                </a:solidFill>
                <a:effectLst/>
                <a:latin typeface="Consolas" panose="020B0609020204030204" pitchFamily="49" charset="0"/>
              </a:rPr>
              <a:t>The Visualization: This is a great choice for numerical-categorical analysis. It shows the median (the center line), the interquartile range (the box), and outliers (whiskers).</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`The Findings`</a:t>
            </a:r>
            <a:r>
              <a:rPr lang="en-US" b="0" dirty="0">
                <a:solidFill>
                  <a:srgbClr val="3B3B3B"/>
                </a:solidFill>
                <a:effectLst/>
                <a:latin typeface="Consolas" panose="020B0609020204030204" pitchFamily="49" charset="0"/>
              </a:rPr>
              <a:t>: Notice how the median lines for "Low," "Medium," and "High" are almost at the same level (around age 42–45). The boxes also overlap almost entirely.</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`Statistical Insight`</a:t>
            </a:r>
            <a:r>
              <a:rPr lang="en-US" b="0" dirty="0">
                <a:solidFill>
                  <a:srgbClr val="3B3B3B"/>
                </a:solidFill>
                <a:effectLst/>
                <a:latin typeface="Consolas" panose="020B0609020204030204" pitchFamily="49" charset="0"/>
              </a:rPr>
              <a:t>: The ANOVA test confirms this with a P-value of 0.3835. This means there is no significant age gap between someone in the "Low" income bracket versus the "High" income bracket.</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`Verdict`</a:t>
            </a:r>
            <a:r>
              <a:rPr lang="en-US" b="0" dirty="0">
                <a:solidFill>
                  <a:srgbClr val="3B3B3B"/>
                </a:solidFill>
                <a:effectLst/>
                <a:latin typeface="Consolas" panose="020B0609020204030204" pitchFamily="49" charset="0"/>
              </a:rPr>
              <a:t>: This plot is very effective at showing "independence." It proves that age is distributed similarly across all income tiers.</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9</a:t>
            </a:fld>
            <a:endParaRPr lang="th-TH"/>
          </a:p>
        </p:txBody>
      </p:sp>
    </p:spTree>
    <p:extLst>
      <p:ext uri="{BB962C8B-B14F-4D97-AF65-F5344CB8AC3E}">
        <p14:creationId xmlns:p14="http://schemas.microsoft.com/office/powerpoint/2010/main" val="2968171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Scatter Plot: Age vs. Gender</a:t>
            </a:r>
          </a:p>
          <a:p>
            <a:r>
              <a:rPr lang="en-US" dirty="0"/>
              <a:t>This plot examines whether age distributions differ between Male (M) and Female (F) customers.</a:t>
            </a:r>
          </a:p>
          <a:p>
            <a:pPr>
              <a:buFont typeface="Arial" panose="020B0604020202020204" pitchFamily="34" charset="0"/>
              <a:buChar char="•"/>
            </a:pPr>
            <a:r>
              <a:rPr lang="en-US" b="1" dirty="0"/>
              <a:t>Observations:</a:t>
            </a:r>
            <a:endParaRPr lang="en-US" dirty="0"/>
          </a:p>
          <a:p>
            <a:pPr marL="742950" lvl="1" indent="-285750">
              <a:buFont typeface="Arial" panose="020B0604020202020204" pitchFamily="34" charset="0"/>
              <a:buChar char="•"/>
            </a:pPr>
            <a:r>
              <a:rPr lang="en-US" dirty="0"/>
              <a:t>The vertical spread for both genders is nearly identical, ranging from approximately </a:t>
            </a:r>
            <a:r>
              <a:rPr lang="en-US" b="1" dirty="0"/>
              <a:t>18 to 70 years old</a:t>
            </a:r>
            <a:r>
              <a:rPr lang="en-US" dirty="0"/>
              <a:t>.</a:t>
            </a:r>
          </a:p>
          <a:p>
            <a:pPr marL="742950" lvl="1" indent="-285750">
              <a:buFont typeface="Arial" panose="020B0604020202020204" pitchFamily="34" charset="0"/>
              <a:buChar char="•"/>
            </a:pPr>
            <a:r>
              <a:rPr lang="en-US" dirty="0"/>
              <a:t>The density of the points (the "darkness" of the purple and red clusters) appears uniform across the entire age range for both categories.</a:t>
            </a:r>
          </a:p>
          <a:p>
            <a:pPr>
              <a:buFont typeface="Arial" panose="020B0604020202020204" pitchFamily="34" charset="0"/>
              <a:buChar char="•"/>
            </a:pPr>
            <a:r>
              <a:rPr lang="en-US" b="1" dirty="0"/>
              <a:t>Explicit Conclusion:</a:t>
            </a:r>
            <a:r>
              <a:rPr lang="en-US" dirty="0"/>
              <a:t> There is no visible correlation between gender and age. Both groups are represented across the full spectrum of the dataset's age range.</a:t>
            </a:r>
          </a:p>
          <a:p>
            <a:r>
              <a:rPr lang="en-US" b="1" dirty="0"/>
              <a:t>2. Scatter Plot: Age vs. Marital Status</a:t>
            </a:r>
          </a:p>
          <a:p>
            <a:r>
              <a:rPr lang="en-US" dirty="0"/>
              <a:t>This visualization compares the age distribution across four life stages: Single, Married, Widowed, and Divorced.</a:t>
            </a:r>
          </a:p>
          <a:p>
            <a:pPr>
              <a:buFont typeface="Arial" panose="020B0604020202020204" pitchFamily="34" charset="0"/>
              <a:buChar char="•"/>
            </a:pPr>
            <a:r>
              <a:rPr lang="en-US" b="1" dirty="0"/>
              <a:t>Observations:</a:t>
            </a:r>
            <a:endParaRPr lang="en-US" dirty="0"/>
          </a:p>
          <a:p>
            <a:pPr marL="742950" lvl="1" indent="-285750">
              <a:buFont typeface="Arial" panose="020B0604020202020204" pitchFamily="34" charset="0"/>
              <a:buChar char="•"/>
            </a:pPr>
            <a:r>
              <a:rPr lang="en-US" dirty="0"/>
              <a:t>All four categories (Single, Married, Widowed, Divorced) cover the same broad age range of </a:t>
            </a:r>
            <a:r>
              <a:rPr lang="en-US" b="1" dirty="0"/>
              <a:t>18 to 70</a:t>
            </a:r>
            <a:r>
              <a:rPr lang="en-US" dirty="0"/>
              <a:t>.</a:t>
            </a:r>
          </a:p>
          <a:p>
            <a:pPr marL="742950" lvl="1" indent="-285750">
              <a:buFont typeface="Arial" panose="020B0604020202020204" pitchFamily="34" charset="0"/>
              <a:buChar char="•"/>
            </a:pPr>
            <a:r>
              <a:rPr lang="en-US" dirty="0"/>
              <a:t>Unlike typical real-world demographics—where you might expect "Widowed" individuals to skew older or "Single" individuals to skew younger—this dataset shows a </a:t>
            </a:r>
            <a:r>
              <a:rPr lang="en-US" b="1" dirty="0"/>
              <a:t>completely uniform distribution</a:t>
            </a:r>
            <a:r>
              <a:rPr lang="en-US" dirty="0"/>
              <a:t>.</a:t>
            </a:r>
          </a:p>
          <a:p>
            <a:pPr>
              <a:buFont typeface="Arial" panose="020B0604020202020204" pitchFamily="34" charset="0"/>
              <a:buChar char="•"/>
            </a:pPr>
            <a:r>
              <a:rPr lang="en-US" b="1" dirty="0"/>
              <a:t>Explicit Conclusion:</a:t>
            </a:r>
            <a:r>
              <a:rPr lang="en-US" dirty="0"/>
              <a:t> Marital status is independent of age in this dataset. Young and old individuals are equally likely to be found in any of the four marital categories.</a:t>
            </a:r>
          </a:p>
          <a:p>
            <a:r>
              <a:rPr lang="en-US" b="1" dirty="0"/>
              <a:t>3. Scatter Plot: Age vs. Income Level</a:t>
            </a:r>
          </a:p>
          <a:p>
            <a:r>
              <a:rPr lang="en-US" dirty="0"/>
              <a:t>This plot analyzes if specific age groups are concentrated in Low, Medium, or High income brackets.</a:t>
            </a:r>
          </a:p>
          <a:p>
            <a:pPr>
              <a:buFont typeface="Arial" panose="020B0604020202020204" pitchFamily="34" charset="0"/>
              <a:buChar char="•"/>
            </a:pPr>
            <a:r>
              <a:rPr lang="en-US" b="1" dirty="0"/>
              <a:t>Observations:</a:t>
            </a:r>
            <a:endParaRPr lang="en-US" dirty="0"/>
          </a:p>
          <a:p>
            <a:pPr marL="742950" lvl="1" indent="-285750">
              <a:buFont typeface="Arial" panose="020B0604020202020204" pitchFamily="34" charset="0"/>
              <a:buChar char="•"/>
            </a:pPr>
            <a:r>
              <a:rPr lang="en-US" dirty="0"/>
              <a:t>The </a:t>
            </a:r>
            <a:r>
              <a:rPr lang="en-US" b="1" dirty="0"/>
              <a:t>Low</a:t>
            </a:r>
            <a:r>
              <a:rPr lang="en-US" dirty="0"/>
              <a:t> (purple), </a:t>
            </a:r>
            <a:r>
              <a:rPr lang="en-US" b="1" dirty="0"/>
              <a:t>Medium</a:t>
            </a:r>
            <a:r>
              <a:rPr lang="en-US" dirty="0"/>
              <a:t> (pink), and </a:t>
            </a:r>
            <a:r>
              <a:rPr lang="en-US" b="1" dirty="0"/>
              <a:t>High</a:t>
            </a:r>
            <a:r>
              <a:rPr lang="en-US" dirty="0"/>
              <a:t> (orange) income columns all show a consistent density of points from age 18 to 70.</a:t>
            </a:r>
          </a:p>
          <a:p>
            <a:pPr marL="742950" lvl="1" indent="-285750">
              <a:buFont typeface="Arial" panose="020B0604020202020204" pitchFamily="34" charset="0"/>
              <a:buChar char="•"/>
            </a:pPr>
            <a:r>
              <a:rPr lang="en-US" dirty="0"/>
              <a:t>There is no upward or downward trend; for instance, we do not see "High" income points clustering only at older ages.</a:t>
            </a:r>
          </a:p>
          <a:p>
            <a:pPr>
              <a:buFont typeface="Arial" panose="020B0604020202020204" pitchFamily="34" charset="0"/>
              <a:buChar char="•"/>
            </a:pPr>
            <a:r>
              <a:rPr lang="en-US" b="1" dirty="0"/>
              <a:t>Explicit Conclusion:</a:t>
            </a:r>
            <a:r>
              <a:rPr lang="en-US" dirty="0"/>
              <a:t> Income level does not appear to be influenced by age in this specific population. A 20-year-old is just as likely to be in the "High" income bracket as a 60-year-old.</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10</a:t>
            </a:fld>
            <a:endParaRPr lang="th-TH"/>
          </a:p>
        </p:txBody>
      </p:sp>
    </p:spTree>
    <p:extLst>
      <p:ext uri="{BB962C8B-B14F-4D97-AF65-F5344CB8AC3E}">
        <p14:creationId xmlns:p14="http://schemas.microsoft.com/office/powerpoint/2010/main" val="2522341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3B3B3B"/>
                </a:solidFill>
                <a:effectLst/>
                <a:latin typeface="Consolas" panose="020B0609020204030204" pitchFamily="49" charset="0"/>
              </a:rPr>
              <a:t>his statistical analysis deconstructs your customer churn and revenue behavior by moving from broad temporal trends to granular bivariate drivers.</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1.</a:t>
            </a:r>
            <a:r>
              <a:rPr lang="en-US" b="0" dirty="0">
                <a:solidFill>
                  <a:srgbClr val="3B3B3B"/>
                </a:solidFill>
                <a:effectLst/>
                <a:latin typeface="Consolas" panose="020B0609020204030204" pitchFamily="49" charset="0"/>
              </a:rPr>
              <a:t> Revenue Dynamics: Volume vs. Transaction Value</a:t>
            </a:r>
          </a:p>
          <a:p>
            <a:r>
              <a:rPr lang="en-US" b="0" dirty="0">
                <a:solidFill>
                  <a:srgbClr val="3B3B3B"/>
                </a:solidFill>
                <a:effectLst/>
                <a:latin typeface="Consolas" panose="020B0609020204030204" pitchFamily="49" charset="0"/>
              </a:rPr>
              <a:t>Comparing the Total Monthly Revenue to the Average Transaction Size reveals a fundamental business characteristic:</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Decoupled Stability: The Average Transaction Size remains highly stable, fluctuating only between approximately $245 and $265 throughout the year.</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Volume-Driven Revenue: While individual spending is steady, Total Monthly Revenue shows much higher variance, peaking above $120,000 in March and dipping near $100,000 in February.</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Statistical Conclusion: Your revenue growth is mathematically driven by the quantity of transactions (Volume) rather than the value per customer (Quality). Strategy should focus on customer acquisition/retention rather than upselling.</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2.</a:t>
            </a:r>
            <a:r>
              <a:rPr lang="en-US" b="0" dirty="0">
                <a:solidFill>
                  <a:srgbClr val="3B3B3B"/>
                </a:solidFill>
                <a:effectLst/>
                <a:latin typeface="Consolas" panose="020B0609020204030204" pitchFamily="49" charset="0"/>
              </a:rPr>
              <a:t> Time-Series Decomposition: Identifying the "Pulse"</a:t>
            </a:r>
          </a:p>
          <a:p>
            <a:r>
              <a:rPr lang="en-US" b="0" dirty="0">
                <a:solidFill>
                  <a:srgbClr val="3B3B3B"/>
                </a:solidFill>
                <a:effectLst/>
                <a:latin typeface="Consolas" panose="020B0609020204030204" pitchFamily="49" charset="0"/>
              </a:rPr>
              <a:t>Decomposing the revenue into its constituent parts isolates hidden behavioral patterns: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Quarterly Seasonality: The Seasonal Pattern identifies a clear, repeating "sawtooth" wave every three months. This suggests a quarterly business cycle, likely tied to 90-day renewal periods or recurring promotional events.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Trend Inflection: The Trend Component identifies a consistent growth trajectory until July 2022, followed by a significant and steady decline through the end of the year.</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Event Residuals: The Residuals (Noise) plot identifies February as a major negative outlier. Since this dip remains after removing trend and seasonality, it represents a non-recurring "shock" like a technical failure or supply chain disruption.</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3.</a:t>
            </a:r>
            <a:r>
              <a:rPr lang="en-US" b="0" dirty="0">
                <a:solidFill>
                  <a:srgbClr val="3B3B3B"/>
                </a:solidFill>
                <a:effectLst/>
                <a:latin typeface="Consolas" panose="020B0609020204030204" pitchFamily="49" charset="0"/>
              </a:rPr>
              <a:t> Bivariate Analysis: Categorical Churn Drivers</a:t>
            </a:r>
          </a:p>
          <a:p>
            <a:r>
              <a:rPr lang="en-US" b="0" dirty="0">
                <a:solidFill>
                  <a:srgbClr val="3B3B3B"/>
                </a:solidFill>
                <a:effectLst/>
                <a:latin typeface="Consolas" panose="020B0609020204030204" pitchFamily="49" charset="0"/>
              </a:rPr>
              <a:t>Using stacked bar charts to analyze independence, we identify segments with disproportionate churn risk:</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Service Usage Risk: Customers using Mobile App services show a higher proportion of churn (red segment) compared to those using Website or Online Banking.</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Product Category Variance: Churn rates are relatively uniform across categories, though Electronics and Groceries show slightly elevated risk proportions compared to Books or Furniture.</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Marital Status Influence: Single and Married individuals demonstrate higher churn proportions than Widowed individuals, who show the highest retention rates (green segment).</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4.</a:t>
            </a:r>
            <a:r>
              <a:rPr lang="en-US" b="0" dirty="0">
                <a:solidFill>
                  <a:srgbClr val="3B3B3B"/>
                </a:solidFill>
                <a:effectLst/>
                <a:latin typeface="Consolas" panose="020B0609020204030204" pitchFamily="49" charset="0"/>
              </a:rPr>
              <a:t> Bivariate Analysis: Numerical Churn Drivers</a:t>
            </a:r>
          </a:p>
          <a:p>
            <a:r>
              <a:rPr lang="en-US" b="0" dirty="0">
                <a:solidFill>
                  <a:srgbClr val="3B3B3B"/>
                </a:solidFill>
                <a:effectLst/>
                <a:latin typeface="Consolas" panose="020B0609020204030204" pitchFamily="49" charset="0"/>
              </a:rPr>
              <a:t>KDE (Density) plots reveal where churners (Red) and loyalists (Green) differ in behavior:</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Login Frequency Shift: This is the most significant predictor. The density peak for loyal customers is skewed heavily toward 40+ logins, while churners peak significantly earlier, around 5–10 logins.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Age Distribution: Churn density is highest in the 40–60 age bracket, whereas younger customers (20–30) show higher relative density for retention.</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Spending Overlap: The distribution of Amount Spent for churners and non-churners is almost identical (highly overlapping curves). This statistically confirms that how much a customer spends is not a predictor of whether they will leave.</a:t>
            </a: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11</a:t>
            </a:fld>
            <a:endParaRPr lang="th-TH"/>
          </a:p>
        </p:txBody>
      </p:sp>
    </p:spTree>
    <p:extLst>
      <p:ext uri="{BB962C8B-B14F-4D97-AF65-F5344CB8AC3E}">
        <p14:creationId xmlns:p14="http://schemas.microsoft.com/office/powerpoint/2010/main" val="2772149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451A5"/>
                </a:solidFill>
                <a:effectLst/>
                <a:latin typeface="Consolas" panose="020B0609020204030204" pitchFamily="49" charset="0"/>
              </a:rPr>
              <a:t>1.</a:t>
            </a:r>
            <a:r>
              <a:rPr lang="en-US" b="0" dirty="0">
                <a:solidFill>
                  <a:srgbClr val="3B3B3B"/>
                </a:solidFill>
                <a:effectLst/>
                <a:latin typeface="Consolas" panose="020B0609020204030204" pitchFamily="49" charset="0"/>
              </a:rPr>
              <a:t> Core Numerical Driver: Login Frequency</a:t>
            </a:r>
          </a:p>
          <a:p>
            <a:r>
              <a:rPr lang="en-US" b="0" dirty="0">
                <a:solidFill>
                  <a:srgbClr val="3B3B3B"/>
                </a:solidFill>
                <a:effectLst/>
                <a:latin typeface="Consolas" panose="020B0609020204030204" pitchFamily="49" charset="0"/>
              </a:rPr>
              <a:t>The most statistically significant predictor of Churn Status across all models is Login Frequency.</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Point-Biserial Correlation: This method reveals a strong negative correlation (approximately -0.10) with churn. In statistical terms, this means as the frequency of logins decreases, the probability of a customer churning increases.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Distributional Insight: The Distribution of Login Frequency by Churn plot shows a stark "non-linear" relationship. Churners (red) exhibit a prominent peak at very low frequencies (0–10 logins), while retained customers (green) peak significantly higher, around 40 logins.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Business Impact: Engagement is the primary lever for retention. A customer logging in fewer than 10 times represents a high-risk segment that requires immediate re-engagement.</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2.</a:t>
            </a:r>
            <a:r>
              <a:rPr lang="en-US" b="0" dirty="0">
                <a:solidFill>
                  <a:srgbClr val="3B3B3B"/>
                </a:solidFill>
                <a:effectLst/>
                <a:latin typeface="Consolas" panose="020B0609020204030204" pitchFamily="49" charset="0"/>
              </a:rPr>
              <a:t> Secondary Numerical Drivers: Age and Spending</a:t>
            </a:r>
          </a:p>
          <a:p>
            <a:r>
              <a:rPr lang="en-US" b="0" dirty="0">
                <a:solidFill>
                  <a:srgbClr val="3B3B3B"/>
                </a:solidFill>
                <a:effectLst/>
                <a:latin typeface="Consolas" panose="020B0609020204030204" pitchFamily="49" charset="0"/>
              </a:rPr>
              <a:t>While Age and Amount Spent are critical demographic and financial metrics, their statistical relationship with churn is more nuanced.</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Age Dynamics: Age has a low positive correlation with churn (approx. 0.04). However, the Distribution of Age by Churn reveals a risk "hump" between the ages of 40 and 60, where the density of churners exceeds that of retained customers. Younger customers (20s) show higher relative retention.</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The Spending Paradox: Amount Spent shows an almost zero correlation (-0.00) with churn. The Distribution of </a:t>
            </a:r>
            <a:r>
              <a:rPr lang="en-US" b="0" dirty="0" err="1">
                <a:solidFill>
                  <a:srgbClr val="3B3B3B"/>
                </a:solidFill>
                <a:effectLst/>
                <a:latin typeface="Consolas" panose="020B0609020204030204" pitchFamily="49" charset="0"/>
              </a:rPr>
              <a:t>AmountSpent</a:t>
            </a:r>
            <a:r>
              <a:rPr lang="en-US" b="0" dirty="0">
                <a:solidFill>
                  <a:srgbClr val="3B3B3B"/>
                </a:solidFill>
                <a:effectLst/>
                <a:latin typeface="Consolas" panose="020B0609020204030204" pitchFamily="49" charset="0"/>
              </a:rPr>
              <a:t> by Churn displays near-perfectly overlapping curves for both groups.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Statistical Conclusion: High spending does not equate to loyalty. A "big spender" is statistically just as likely to leave as a low spender, indicating that price or value may not be the primary churn driver.</a:t>
            </a:r>
          </a:p>
          <a:p>
            <a:br>
              <a:rPr lang="en-US" b="0" dirty="0">
                <a:solidFill>
                  <a:srgbClr val="3B3B3B"/>
                </a:solidFill>
                <a:effectLst/>
                <a:latin typeface="Consolas" panose="020B0609020204030204" pitchFamily="49" charset="0"/>
              </a:rPr>
            </a:br>
            <a:r>
              <a:rPr lang="en-US" b="0" dirty="0">
                <a:solidFill>
                  <a:srgbClr val="0451A5"/>
                </a:solidFill>
                <a:effectLst/>
                <a:latin typeface="Consolas" panose="020B0609020204030204" pitchFamily="49" charset="0"/>
              </a:rPr>
              <a:t>3.</a:t>
            </a:r>
            <a:r>
              <a:rPr lang="en-US" b="0" dirty="0">
                <a:solidFill>
                  <a:srgbClr val="3B3B3B"/>
                </a:solidFill>
                <a:effectLst/>
                <a:latin typeface="Consolas" panose="020B0609020204030204" pitchFamily="49" charset="0"/>
              </a:rPr>
              <a:t> Categorical Associations: Service Usage and Demographics</a:t>
            </a:r>
          </a:p>
          <a:p>
            <a:r>
              <a:rPr lang="en-US" b="0" dirty="0">
                <a:solidFill>
                  <a:srgbClr val="3B3B3B"/>
                </a:solidFill>
                <a:effectLst/>
                <a:latin typeface="Consolas" panose="020B0609020204030204" pitchFamily="49" charset="0"/>
              </a:rPr>
              <a:t>For non-numeric features, advanced association methods like Cramer's V and Eta were used to measure the strength of relationships.</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Marital Status: This feature shows the highest categorical association with churn in the Point-Biserial &amp; Association chart. Visual evidence from the Churn Risk by </a:t>
            </a:r>
            <a:r>
              <a:rPr lang="en-US" b="0" dirty="0" err="1">
                <a:solidFill>
                  <a:srgbClr val="3B3B3B"/>
                </a:solidFill>
                <a:effectLst/>
                <a:latin typeface="Consolas" panose="020B0609020204030204" pitchFamily="49" charset="0"/>
              </a:rPr>
              <a:t>MaritalStatus</a:t>
            </a:r>
            <a:r>
              <a:rPr lang="en-US" b="0" dirty="0">
                <a:solidFill>
                  <a:srgbClr val="3B3B3B"/>
                </a:solidFill>
                <a:effectLst/>
                <a:latin typeface="Consolas" panose="020B0609020204030204" pitchFamily="49" charset="0"/>
              </a:rPr>
              <a:t> plot suggests that Single individuals have a slightly higher proportion of churn compared to Widowed individuals, who appear most stable.</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Service Usage: There is a clear association (approx. -0.06) between how a customer interacts with the platform and their churn risk.</a:t>
            </a:r>
          </a:p>
          <a:p>
            <a:r>
              <a:rPr lang="en-US" b="0" dirty="0">
                <a:solidFill>
                  <a:srgbClr val="3B3B3B"/>
                </a:solidFill>
                <a:effectLst/>
                <a:latin typeface="Consolas" panose="020B0609020204030204" pitchFamily="49" charset="0"/>
              </a:rPr>
              <a:t>Mobile App users exhibit the highest risk, with a churn proportion notably higher than those using Online Banking or the Website.</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    - Income Level and Gender: These show very low correlations. The Churn Risk bar charts for these variables show nearly uniform distributions across categories (e.g., High vs. Low income), meaning they offer little predictive power for identifying potential churners.</a:t>
            </a:r>
          </a:p>
          <a:p>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The Risk Scoring Logic The score is calculated by normalizing the influence of each "Significant" feature and scaling it to a 1–100 range:</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Login Frequency (40% Weight)</a:t>
            </a:r>
            <a:r>
              <a:rPr lang="en-US" b="0" dirty="0">
                <a:solidFill>
                  <a:srgbClr val="3B3B3B"/>
                </a:solidFill>
                <a:effectLst/>
                <a:latin typeface="Consolas" panose="020B0609020204030204" pitchFamily="49" charset="0"/>
              </a:rPr>
              <a:t>: Points are assigned inversely (lower logins = higher risk).</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Service Usage (25% Weight)</a:t>
            </a:r>
            <a:r>
              <a:rPr lang="en-US" b="0" dirty="0">
                <a:solidFill>
                  <a:srgbClr val="3B3B3B"/>
                </a:solidFill>
                <a:effectLst/>
                <a:latin typeface="Consolas" panose="020B0609020204030204" pitchFamily="49" charset="0"/>
              </a:rPr>
              <a:t>: High-risk segments like "Mobile App" receive maximum points.</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Marital Status (20% Weight)</a:t>
            </a:r>
            <a:r>
              <a:rPr lang="en-US" b="0" dirty="0">
                <a:solidFill>
                  <a:srgbClr val="3B3B3B"/>
                </a:solidFill>
                <a:effectLst/>
                <a:latin typeface="Consolas" panose="020B0609020204030204" pitchFamily="49" charset="0"/>
              </a:rPr>
              <a:t>: "Single" and "Married" segments receive higher points based on your "Gap" test.</a:t>
            </a:r>
          </a:p>
          <a:p>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Age (15% Weight)</a:t>
            </a:r>
            <a:r>
              <a:rPr lang="en-US" b="0" dirty="0">
                <a:solidFill>
                  <a:srgbClr val="3B3B3B"/>
                </a:solidFill>
                <a:effectLst/>
                <a:latin typeface="Consolas" panose="020B0609020204030204" pitchFamily="49" charset="0"/>
              </a:rPr>
              <a:t>: Points peak for the 40–60 demographic.</a:t>
            </a:r>
          </a:p>
          <a:p>
            <a:r>
              <a:rPr lang="en-US" b="0">
                <a:solidFill>
                  <a:srgbClr val="0451A5"/>
                </a:solidFill>
                <a:effectLst/>
                <a:latin typeface="Consolas" panose="020B0609020204030204" pitchFamily="49" charset="0"/>
              </a:rPr>
              <a:t>-</a:t>
            </a:r>
            <a:r>
              <a:rPr lang="en-US" b="0">
                <a:solidFill>
                  <a:srgbClr val="3B3B3B"/>
                </a:solidFill>
                <a:effectLst/>
                <a:latin typeface="Consolas" panose="020B0609020204030204" pitchFamily="49" charset="0"/>
              </a:rPr>
              <a:t> </a:t>
            </a:r>
            <a:r>
              <a:rPr lang="en-US" b="0">
                <a:solidFill>
                  <a:srgbClr val="800000"/>
                </a:solidFill>
                <a:effectLst/>
                <a:latin typeface="Consolas" panose="020B0609020204030204" pitchFamily="49" charset="0"/>
              </a:rPr>
              <a:t>Amount Spent </a:t>
            </a:r>
            <a:r>
              <a:rPr lang="en-US" b="0" dirty="0">
                <a:solidFill>
                  <a:srgbClr val="800000"/>
                </a:solidFill>
                <a:effectLst/>
                <a:latin typeface="Consolas" panose="020B0609020204030204" pitchFamily="49" charset="0"/>
              </a:rPr>
              <a:t>(0% Weight)</a:t>
            </a:r>
            <a:r>
              <a:rPr lang="en-US" b="0" dirty="0">
                <a:solidFill>
                  <a:srgbClr val="3B3B3B"/>
                </a:solidFill>
                <a:effectLst/>
                <a:latin typeface="Consolas" panose="020B0609020204030204" pitchFamily="49" charset="0"/>
              </a:rPr>
              <a:t>: Excluded from the score since its $</a:t>
            </a:r>
            <a:r>
              <a:rPr lang="en-US" b="0" dirty="0">
                <a:solidFill>
                  <a:srgbClr val="000000"/>
                </a:solidFill>
                <a:effectLst/>
                <a:latin typeface="Consolas" panose="020B0609020204030204" pitchFamily="49" charset="0"/>
              </a:rPr>
              <a:t>p</a:t>
            </a:r>
            <a:r>
              <a:rPr lang="en-US" b="0" dirty="0">
                <a:solidFill>
                  <a:srgbClr val="3B3B3B"/>
                </a:solidFill>
                <a:effectLst/>
                <a:latin typeface="Consolas" panose="020B0609020204030204" pitchFamily="49" charset="0"/>
              </a:rPr>
              <a:t>$-value ($</a:t>
            </a:r>
            <a:r>
              <a:rPr lang="en-US" b="0" dirty="0">
                <a:solidFill>
                  <a:srgbClr val="098658"/>
                </a:solidFill>
                <a:effectLst/>
                <a:latin typeface="Consolas" panose="020B0609020204030204" pitchFamily="49" charset="0"/>
              </a:rPr>
              <a:t>0.9868</a:t>
            </a:r>
            <a:r>
              <a:rPr lang="en-US" b="0" dirty="0">
                <a:solidFill>
                  <a:srgbClr val="3B3B3B"/>
                </a:solidFill>
                <a:effectLst/>
                <a:latin typeface="Consolas" panose="020B0609020204030204" pitchFamily="49" charset="0"/>
              </a:rPr>
              <a:t>$) proved it is not a churn driver.</a:t>
            </a:r>
          </a:p>
          <a:p>
            <a:endParaRPr lang="en-US" b="0" dirty="0">
              <a:solidFill>
                <a:srgbClr val="3B3B3B"/>
              </a:solidFill>
              <a:effectLst/>
              <a:latin typeface="Consolas" panose="020B0609020204030204" pitchFamily="49" charset="0"/>
            </a:endParaRPr>
          </a:p>
          <a:p>
            <a:endParaRPr lang="th-TH" dirty="0"/>
          </a:p>
        </p:txBody>
      </p:sp>
      <p:sp>
        <p:nvSpPr>
          <p:cNvPr id="4" name="Slide Number Placeholder 3"/>
          <p:cNvSpPr>
            <a:spLocks noGrp="1"/>
          </p:cNvSpPr>
          <p:nvPr>
            <p:ph type="sldNum" sz="quarter" idx="5"/>
          </p:nvPr>
        </p:nvSpPr>
        <p:spPr/>
        <p:txBody>
          <a:bodyPr/>
          <a:lstStyle/>
          <a:p>
            <a:fld id="{190FA0E1-9DC0-4984-AED9-C126D72DCE38}" type="slidenum">
              <a:rPr lang="th-TH" smtClean="0"/>
              <a:t>12</a:t>
            </a:fld>
            <a:endParaRPr lang="th-TH"/>
          </a:p>
        </p:txBody>
      </p:sp>
    </p:spTree>
    <p:extLst>
      <p:ext uri="{BB962C8B-B14F-4D97-AF65-F5344CB8AC3E}">
        <p14:creationId xmlns:p14="http://schemas.microsoft.com/office/powerpoint/2010/main" val="40665313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th-TH"/>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361870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37049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387305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1F431E-F7D1-4354-8E17-CD33382C6991}" type="datetimeFigureOut">
              <a:rPr lang="th-TH" smtClean="0"/>
              <a:t>09/03/69</a:t>
            </a:fld>
            <a:endParaRPr lang="th-TH"/>
          </a:p>
        </p:txBody>
      </p:sp>
      <p:sp>
        <p:nvSpPr>
          <p:cNvPr id="6" name="Footer Placeholder 5"/>
          <p:cNvSpPr>
            <a:spLocks noGrp="1"/>
          </p:cNvSpPr>
          <p:nvPr>
            <p:ph type="ftr" sz="quarter" idx="11"/>
          </p:nvPr>
        </p:nvSpPr>
        <p:spPr/>
        <p:txBody>
          <a:bodyPr/>
          <a:lstStyle/>
          <a:p>
            <a:endParaRPr lang="th-TH"/>
          </a:p>
        </p:txBody>
      </p:sp>
      <p:sp>
        <p:nvSpPr>
          <p:cNvPr id="7" name="Slide Number Placeholder 6"/>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75534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1F431E-F7D1-4354-8E17-CD33382C6991}" type="datetimeFigureOut">
              <a:rPr lang="th-TH" smtClean="0"/>
              <a:t>09/03/69</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2507786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1F431E-F7D1-4354-8E17-CD33382C6991}" type="datetimeFigureOut">
              <a:rPr lang="th-TH" smtClean="0"/>
              <a:t>09/03/69</a:t>
            </a:fld>
            <a:endParaRPr lang="th-TH"/>
          </a:p>
        </p:txBody>
      </p:sp>
      <p:sp>
        <p:nvSpPr>
          <p:cNvPr id="4" name="Footer Placeholder 3"/>
          <p:cNvSpPr>
            <a:spLocks noGrp="1"/>
          </p:cNvSpPr>
          <p:nvPr>
            <p:ph type="ftr" sz="quarter" idx="11"/>
          </p:nvPr>
        </p:nvSpPr>
        <p:spPr/>
        <p:txBody>
          <a:bodyPr/>
          <a:lstStyle/>
          <a:p>
            <a:endParaRPr lang="th-TH"/>
          </a:p>
        </p:txBody>
      </p:sp>
      <p:sp>
        <p:nvSpPr>
          <p:cNvPr id="5" name="Slide Number Placeholder 4"/>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635302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1F431E-F7D1-4354-8E17-CD33382C6991}" type="datetimeFigureOut">
              <a:rPr lang="th-TH" smtClean="0"/>
              <a:t>09/03/69</a:t>
            </a:fld>
            <a:endParaRPr lang="th-TH"/>
          </a:p>
        </p:txBody>
      </p:sp>
      <p:sp>
        <p:nvSpPr>
          <p:cNvPr id="3" name="Footer Placeholder 2"/>
          <p:cNvSpPr>
            <a:spLocks noGrp="1"/>
          </p:cNvSpPr>
          <p:nvPr>
            <p:ph type="ftr" sz="quarter" idx="11"/>
          </p:nvPr>
        </p:nvSpPr>
        <p:spPr/>
        <p:txBody>
          <a:bodyPr/>
          <a:lstStyle/>
          <a:p>
            <a:endParaRPr lang="th-TH"/>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3221998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F431E-F7D1-4354-8E17-CD33382C6991}" type="datetimeFigureOut">
              <a:rPr lang="th-TH" smtClean="0"/>
              <a:t>09/03/69</a:t>
            </a:fld>
            <a:endParaRPr lang="th-TH"/>
          </a:p>
        </p:txBody>
      </p:sp>
      <p:sp>
        <p:nvSpPr>
          <p:cNvPr id="6" name="Footer Placeholder 5"/>
          <p:cNvSpPr>
            <a:spLocks noGrp="1"/>
          </p:cNvSpPr>
          <p:nvPr>
            <p:ph type="ftr" sz="quarter" idx="11"/>
          </p:nvPr>
        </p:nvSpPr>
        <p:spPr/>
        <p:txBody>
          <a:bodyPr/>
          <a:lstStyle/>
          <a:p>
            <a:endParaRPr lang="th-T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099914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F431E-F7D1-4354-8E17-CD33382C6991}" type="datetimeFigureOut">
              <a:rPr lang="th-TH" smtClean="0"/>
              <a:t>09/03/69</a:t>
            </a:fld>
            <a:endParaRPr lang="th-TH"/>
          </a:p>
        </p:txBody>
      </p:sp>
      <p:sp>
        <p:nvSpPr>
          <p:cNvPr id="6" name="Footer Placeholder 5"/>
          <p:cNvSpPr>
            <a:spLocks noGrp="1"/>
          </p:cNvSpPr>
          <p:nvPr>
            <p:ph type="ftr" sz="quarter" idx="11"/>
          </p:nvPr>
        </p:nvSpPr>
        <p:spPr/>
        <p:txBody>
          <a:bodyPr/>
          <a:lstStyle/>
          <a:p>
            <a:endParaRPr lang="th-T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2174270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F431E-F7D1-4354-8E17-CD33382C6991}" type="datetimeFigureOut">
              <a:rPr lang="th-TH" smtClean="0"/>
              <a:t>09/03/69</a:t>
            </a:fld>
            <a:endParaRPr lang="th-TH"/>
          </a:p>
        </p:txBody>
      </p:sp>
      <p:sp>
        <p:nvSpPr>
          <p:cNvPr id="6" name="Footer Placeholder 5"/>
          <p:cNvSpPr>
            <a:spLocks noGrp="1"/>
          </p:cNvSpPr>
          <p:nvPr>
            <p:ph type="ftr" sz="quarter" idx="11"/>
          </p:nvPr>
        </p:nvSpPr>
        <p:spPr/>
        <p:txBody>
          <a:bodyPr/>
          <a:lstStyle/>
          <a:p>
            <a:endParaRPr lang="th-T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20945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576691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395482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390456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71F431E-F7D1-4354-8E17-CD33382C6991}" type="datetimeFigureOut">
              <a:rPr lang="th-TH" smtClean="0"/>
              <a:t>09/03/69</a:t>
            </a:fld>
            <a:endParaRPr lang="th-TH"/>
          </a:p>
        </p:txBody>
      </p:sp>
      <p:sp>
        <p:nvSpPr>
          <p:cNvPr id="8" name="Footer Placeholder 7"/>
          <p:cNvSpPr>
            <a:spLocks noGrp="1"/>
          </p:cNvSpPr>
          <p:nvPr>
            <p:ph type="ftr" sz="quarter" idx="11"/>
          </p:nvPr>
        </p:nvSpPr>
        <p:spPr/>
        <p:txBody>
          <a:bodyPr/>
          <a:lstStyle/>
          <a:p>
            <a:endParaRPr lang="th-TH"/>
          </a:p>
        </p:txBody>
      </p:sp>
      <p:sp>
        <p:nvSpPr>
          <p:cNvPr id="9" name="Slide Number Placeholder 8"/>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3046325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71F431E-F7D1-4354-8E17-CD33382C6991}" type="datetimeFigureOut">
              <a:rPr lang="th-TH" smtClean="0"/>
              <a:t>09/03/69</a:t>
            </a:fld>
            <a:endParaRPr lang="th-TH"/>
          </a:p>
        </p:txBody>
      </p:sp>
      <p:sp>
        <p:nvSpPr>
          <p:cNvPr id="8" name="Footer Placeholder 7"/>
          <p:cNvSpPr>
            <a:spLocks noGrp="1"/>
          </p:cNvSpPr>
          <p:nvPr>
            <p:ph type="ftr" sz="quarter" idx="11"/>
          </p:nvPr>
        </p:nvSpPr>
        <p:spPr>
          <a:xfrm>
            <a:off x="561111" y="6391838"/>
            <a:ext cx="3644282" cy="304801"/>
          </a:xfrm>
        </p:spPr>
        <p:txBody>
          <a:bodyPr/>
          <a:lstStyle/>
          <a:p>
            <a:endParaRPr lang="th-TH"/>
          </a:p>
        </p:txBody>
      </p:sp>
      <p:sp>
        <p:nvSpPr>
          <p:cNvPr id="9" name="Slide Number Placeholder 8"/>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915893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1282023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71F431E-F7D1-4354-8E17-CD33382C6991}" type="datetimeFigureOut">
              <a:rPr lang="th-TH" smtClean="0"/>
              <a:t>09/03/69</a:t>
            </a:fld>
            <a:endParaRPr lang="th-TH"/>
          </a:p>
        </p:txBody>
      </p:sp>
      <p:sp>
        <p:nvSpPr>
          <p:cNvPr id="5" name="Footer Placeholder 4"/>
          <p:cNvSpPr>
            <a:spLocks noGrp="1"/>
          </p:cNvSpPr>
          <p:nvPr>
            <p:ph type="ftr" sz="quarter" idx="11"/>
          </p:nvPr>
        </p:nvSpPr>
        <p:spPr/>
        <p:txBody>
          <a:bodyPr/>
          <a:lstStyle/>
          <a:p>
            <a:endParaRPr lang="th-T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414866A-9E15-421A-92A7-AB692750058E}" type="slidenum">
              <a:rPr lang="th-TH" smtClean="0"/>
              <a:t>‹#›</a:t>
            </a:fld>
            <a:endParaRPr lang="th-TH"/>
          </a:p>
        </p:txBody>
      </p:sp>
    </p:spTree>
    <p:extLst>
      <p:ext uri="{BB962C8B-B14F-4D97-AF65-F5344CB8AC3E}">
        <p14:creationId xmlns:p14="http://schemas.microsoft.com/office/powerpoint/2010/main" val="4072275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71F431E-F7D1-4354-8E17-CD33382C6991}" type="datetimeFigureOut">
              <a:rPr lang="th-TH" smtClean="0"/>
              <a:t>09/03/69</a:t>
            </a:fld>
            <a:endParaRPr lang="th-TH"/>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th-TH"/>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414866A-9E15-421A-92A7-AB692750058E}" type="slidenum">
              <a:rPr lang="th-TH" smtClean="0"/>
              <a:t>‹#›</a:t>
            </a:fld>
            <a:endParaRPr lang="th-TH"/>
          </a:p>
        </p:txBody>
      </p:sp>
    </p:spTree>
    <p:extLst>
      <p:ext uri="{BB962C8B-B14F-4D97-AF65-F5344CB8AC3E}">
        <p14:creationId xmlns:p14="http://schemas.microsoft.com/office/powerpoint/2010/main" val="268385339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C36EE-931F-40C0-A420-1A238BB18C38}"/>
              </a:ext>
            </a:extLst>
          </p:cNvPr>
          <p:cNvSpPr>
            <a:spLocks noGrp="1"/>
          </p:cNvSpPr>
          <p:nvPr>
            <p:ph type="ctrTitle"/>
          </p:nvPr>
        </p:nvSpPr>
        <p:spPr>
          <a:xfrm>
            <a:off x="1683171" y="1219200"/>
            <a:ext cx="8825658" cy="2677648"/>
          </a:xfrm>
        </p:spPr>
        <p:txBody>
          <a:bodyPr/>
          <a:lstStyle/>
          <a:p>
            <a:pPr algn="ctr"/>
            <a:r>
              <a:rPr lang="en-US" b="1" dirty="0"/>
              <a:t>EDA On Customer Data</a:t>
            </a:r>
            <a:endParaRPr lang="th-TH" b="1" dirty="0"/>
          </a:p>
        </p:txBody>
      </p:sp>
    </p:spTree>
    <p:extLst>
      <p:ext uri="{BB962C8B-B14F-4D97-AF65-F5344CB8AC3E}">
        <p14:creationId xmlns:p14="http://schemas.microsoft.com/office/powerpoint/2010/main" val="1752752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0AD5-94A8-48AE-8D86-DE61338F05A5}"/>
              </a:ext>
            </a:extLst>
          </p:cNvPr>
          <p:cNvSpPr>
            <a:spLocks noGrp="1"/>
          </p:cNvSpPr>
          <p:nvPr>
            <p:ph type="title"/>
          </p:nvPr>
        </p:nvSpPr>
        <p:spPr/>
        <p:txBody>
          <a:bodyPr/>
          <a:lstStyle/>
          <a:p>
            <a:pPr algn="ctr"/>
            <a:r>
              <a:rPr lang="en-US" b="1" dirty="0"/>
              <a:t>Problem Statement</a:t>
            </a:r>
            <a:endParaRPr lang="th-TH" b="1" dirty="0"/>
          </a:p>
        </p:txBody>
      </p:sp>
      <p:sp>
        <p:nvSpPr>
          <p:cNvPr id="3" name="Content Placeholder 2">
            <a:extLst>
              <a:ext uri="{FF2B5EF4-FFF2-40B4-BE49-F238E27FC236}">
                <a16:creationId xmlns:a16="http://schemas.microsoft.com/office/drawing/2014/main" id="{6465E3C5-27A1-434C-BF77-B86A290DF06C}"/>
              </a:ext>
            </a:extLst>
          </p:cNvPr>
          <p:cNvSpPr>
            <a:spLocks noGrp="1"/>
          </p:cNvSpPr>
          <p:nvPr>
            <p:ph idx="1"/>
          </p:nvPr>
        </p:nvSpPr>
        <p:spPr>
          <a:xfrm>
            <a:off x="1683170" y="2543210"/>
            <a:ext cx="8825659" cy="3416300"/>
          </a:xfrm>
        </p:spPr>
        <p:txBody>
          <a:bodyPr>
            <a:normAutofit/>
          </a:bodyPr>
          <a:lstStyle/>
          <a:p>
            <a:r>
              <a:rPr lang="en-US" sz="2400" dirty="0"/>
              <a:t>We've observed a worrying trend of customers, particularly young professionals and small business owners, leaving for competitors</a:t>
            </a:r>
          </a:p>
          <a:p>
            <a:r>
              <a:rPr lang="en-US" sz="2400" dirty="0"/>
              <a:t> </a:t>
            </a:r>
            <a:r>
              <a:rPr lang="en-US" sz="2400" dirty="0" err="1"/>
              <a:t>SmartBank</a:t>
            </a:r>
            <a:r>
              <a:rPr lang="en-US" sz="2400" dirty="0"/>
              <a:t>, a key subsidiary, has reported a decline in retention rates, and there's mounting pressure from senior management to deliver solutions swiftly</a:t>
            </a:r>
            <a:endParaRPr lang="th-TH" sz="2400" dirty="0"/>
          </a:p>
        </p:txBody>
      </p:sp>
    </p:spTree>
    <p:extLst>
      <p:ext uri="{BB962C8B-B14F-4D97-AF65-F5344CB8AC3E}">
        <p14:creationId xmlns:p14="http://schemas.microsoft.com/office/powerpoint/2010/main" val="225866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44DE-A126-4281-B428-0760610E16A7}"/>
              </a:ext>
            </a:extLst>
          </p:cNvPr>
          <p:cNvSpPr>
            <a:spLocks noGrp="1"/>
          </p:cNvSpPr>
          <p:nvPr>
            <p:ph type="title"/>
          </p:nvPr>
        </p:nvSpPr>
        <p:spPr>
          <a:xfrm>
            <a:off x="1430160" y="1171788"/>
            <a:ext cx="8761413" cy="706964"/>
          </a:xfrm>
        </p:spPr>
        <p:txBody>
          <a:bodyPr/>
          <a:lstStyle/>
          <a:p>
            <a:pPr algn="ctr"/>
            <a:r>
              <a:rPr lang="en-US" b="1" dirty="0"/>
              <a:t>Age Distribution</a:t>
            </a:r>
            <a:endParaRPr lang="th-TH" b="1" dirty="0"/>
          </a:p>
        </p:txBody>
      </p:sp>
      <p:pic>
        <p:nvPicPr>
          <p:cNvPr id="5" name="Content Placeholder 4">
            <a:extLst>
              <a:ext uri="{FF2B5EF4-FFF2-40B4-BE49-F238E27FC236}">
                <a16:creationId xmlns:a16="http://schemas.microsoft.com/office/drawing/2014/main" id="{862933CA-DD07-42AC-B2E8-AAB45C06DE1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65820" y="2471053"/>
            <a:ext cx="9522455" cy="3657119"/>
          </a:xfrm>
        </p:spPr>
      </p:pic>
    </p:spTree>
    <p:extLst>
      <p:ext uri="{BB962C8B-B14F-4D97-AF65-F5344CB8AC3E}">
        <p14:creationId xmlns:p14="http://schemas.microsoft.com/office/powerpoint/2010/main" val="4131947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D9B1-BF03-4502-9BD8-0BCA8731CD57}"/>
              </a:ext>
            </a:extLst>
          </p:cNvPr>
          <p:cNvSpPr>
            <a:spLocks noGrp="1"/>
          </p:cNvSpPr>
          <p:nvPr>
            <p:ph type="title"/>
          </p:nvPr>
        </p:nvSpPr>
        <p:spPr/>
        <p:txBody>
          <a:bodyPr/>
          <a:lstStyle/>
          <a:p>
            <a:pPr algn="ctr"/>
            <a:r>
              <a:rPr lang="en-US" b="1" dirty="0"/>
              <a:t>Amount Spent Distribution</a:t>
            </a:r>
            <a:endParaRPr lang="th-TH" b="1" dirty="0"/>
          </a:p>
        </p:txBody>
      </p:sp>
      <p:pic>
        <p:nvPicPr>
          <p:cNvPr id="5" name="Content Placeholder 4">
            <a:extLst>
              <a:ext uri="{FF2B5EF4-FFF2-40B4-BE49-F238E27FC236}">
                <a16:creationId xmlns:a16="http://schemas.microsoft.com/office/drawing/2014/main" id="{C68D6D80-3F90-4E83-8434-7AC14A19C31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94848" y="2519745"/>
            <a:ext cx="8824913" cy="3364587"/>
          </a:xfrm>
        </p:spPr>
      </p:pic>
    </p:spTree>
    <p:extLst>
      <p:ext uri="{BB962C8B-B14F-4D97-AF65-F5344CB8AC3E}">
        <p14:creationId xmlns:p14="http://schemas.microsoft.com/office/powerpoint/2010/main" val="1757358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3D39B-B349-432D-84C4-34BF52EA8AFC}"/>
              </a:ext>
            </a:extLst>
          </p:cNvPr>
          <p:cNvSpPr>
            <a:spLocks noGrp="1"/>
          </p:cNvSpPr>
          <p:nvPr>
            <p:ph type="title"/>
          </p:nvPr>
        </p:nvSpPr>
        <p:spPr/>
        <p:txBody>
          <a:bodyPr/>
          <a:lstStyle/>
          <a:p>
            <a:pPr algn="ctr"/>
            <a:r>
              <a:rPr lang="en-US" b="1" dirty="0"/>
              <a:t>Login Frequency Distribution</a:t>
            </a:r>
            <a:endParaRPr lang="th-TH" dirty="0"/>
          </a:p>
        </p:txBody>
      </p:sp>
      <p:pic>
        <p:nvPicPr>
          <p:cNvPr id="5" name="Content Placeholder 4">
            <a:extLst>
              <a:ext uri="{FF2B5EF4-FFF2-40B4-BE49-F238E27FC236}">
                <a16:creationId xmlns:a16="http://schemas.microsoft.com/office/drawing/2014/main" id="{2BBBBC38-3695-407C-A9D8-7250B00AEDE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41400" y="2642056"/>
            <a:ext cx="9858740" cy="3758744"/>
          </a:xfrm>
        </p:spPr>
      </p:pic>
    </p:spTree>
    <p:extLst>
      <p:ext uri="{BB962C8B-B14F-4D97-AF65-F5344CB8AC3E}">
        <p14:creationId xmlns:p14="http://schemas.microsoft.com/office/powerpoint/2010/main" val="3391285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ED29-8CFD-45B7-BC97-3ADD41C424DF}"/>
              </a:ext>
            </a:extLst>
          </p:cNvPr>
          <p:cNvSpPr>
            <a:spLocks noGrp="1"/>
          </p:cNvSpPr>
          <p:nvPr>
            <p:ph type="title"/>
          </p:nvPr>
        </p:nvSpPr>
        <p:spPr>
          <a:xfrm>
            <a:off x="1200674" y="935568"/>
            <a:ext cx="8761413" cy="706964"/>
          </a:xfrm>
        </p:spPr>
        <p:txBody>
          <a:bodyPr/>
          <a:lstStyle/>
          <a:p>
            <a:pPr algn="ctr"/>
            <a:r>
              <a:rPr lang="en-US" b="1" dirty="0"/>
              <a:t>Gender &amp; Marital Status Relationship</a:t>
            </a:r>
            <a:endParaRPr lang="th-TH" b="1" dirty="0"/>
          </a:p>
        </p:txBody>
      </p:sp>
      <p:pic>
        <p:nvPicPr>
          <p:cNvPr id="5" name="Content Placeholder 4">
            <a:extLst>
              <a:ext uri="{FF2B5EF4-FFF2-40B4-BE49-F238E27FC236}">
                <a16:creationId xmlns:a16="http://schemas.microsoft.com/office/drawing/2014/main" id="{47075078-6E67-416A-B689-7AB8BF17639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74378" y="2505815"/>
            <a:ext cx="6599335" cy="3591877"/>
          </a:xfrm>
        </p:spPr>
      </p:pic>
    </p:spTree>
    <p:extLst>
      <p:ext uri="{BB962C8B-B14F-4D97-AF65-F5344CB8AC3E}">
        <p14:creationId xmlns:p14="http://schemas.microsoft.com/office/powerpoint/2010/main" val="2319500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6FB59-1860-499C-9C6C-BDCD4E1E07BC}"/>
              </a:ext>
            </a:extLst>
          </p:cNvPr>
          <p:cNvSpPr>
            <a:spLocks noGrp="1"/>
          </p:cNvSpPr>
          <p:nvPr>
            <p:ph type="title"/>
          </p:nvPr>
        </p:nvSpPr>
        <p:spPr>
          <a:xfrm>
            <a:off x="1226821" y="838200"/>
            <a:ext cx="8534400" cy="1036320"/>
          </a:xfrm>
        </p:spPr>
        <p:txBody>
          <a:bodyPr/>
          <a:lstStyle/>
          <a:p>
            <a:pPr algn="ctr"/>
            <a:r>
              <a:rPr lang="en-US" b="1" dirty="0"/>
              <a:t>Bivariate Analysis – Gender vs Income Level</a:t>
            </a:r>
            <a:endParaRPr lang="th-TH" b="1" dirty="0"/>
          </a:p>
        </p:txBody>
      </p:sp>
      <p:pic>
        <p:nvPicPr>
          <p:cNvPr id="5" name="Content Placeholder 4">
            <a:extLst>
              <a:ext uri="{FF2B5EF4-FFF2-40B4-BE49-F238E27FC236}">
                <a16:creationId xmlns:a16="http://schemas.microsoft.com/office/drawing/2014/main" id="{4C66CB87-EDDC-4A5E-A326-F7F0C6205B8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66856" y="2611120"/>
            <a:ext cx="5446137" cy="3683000"/>
          </a:xfrm>
        </p:spPr>
      </p:pic>
    </p:spTree>
    <p:extLst>
      <p:ext uri="{BB962C8B-B14F-4D97-AF65-F5344CB8AC3E}">
        <p14:creationId xmlns:p14="http://schemas.microsoft.com/office/powerpoint/2010/main" val="115182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13530-4549-4EC5-ACBD-9BB1082858D8}"/>
              </a:ext>
            </a:extLst>
          </p:cNvPr>
          <p:cNvSpPr>
            <a:spLocks noGrp="1"/>
          </p:cNvSpPr>
          <p:nvPr>
            <p:ph type="title"/>
          </p:nvPr>
        </p:nvSpPr>
        <p:spPr/>
        <p:txBody>
          <a:bodyPr/>
          <a:lstStyle/>
          <a:p>
            <a:pPr algn="ctr"/>
            <a:r>
              <a:rPr lang="en-US" b="1" dirty="0"/>
              <a:t>Bivariate Analysis – Marital Status vs Income Level</a:t>
            </a:r>
            <a:endParaRPr lang="th-TH" b="1" dirty="0"/>
          </a:p>
        </p:txBody>
      </p:sp>
      <p:pic>
        <p:nvPicPr>
          <p:cNvPr id="5" name="Content Placeholder 4">
            <a:extLst>
              <a:ext uri="{FF2B5EF4-FFF2-40B4-BE49-F238E27FC236}">
                <a16:creationId xmlns:a16="http://schemas.microsoft.com/office/drawing/2014/main" id="{D0B3DD8C-FF75-4384-8853-375967A4AD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3234" y="2458402"/>
            <a:ext cx="5201215" cy="3517369"/>
          </a:xfrm>
        </p:spPr>
      </p:pic>
    </p:spTree>
    <p:extLst>
      <p:ext uri="{BB962C8B-B14F-4D97-AF65-F5344CB8AC3E}">
        <p14:creationId xmlns:p14="http://schemas.microsoft.com/office/powerpoint/2010/main" val="3503697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41438-30C0-4467-A137-577CFA3135FD}"/>
              </a:ext>
            </a:extLst>
          </p:cNvPr>
          <p:cNvSpPr>
            <a:spLocks noGrp="1"/>
          </p:cNvSpPr>
          <p:nvPr>
            <p:ph type="title"/>
          </p:nvPr>
        </p:nvSpPr>
        <p:spPr>
          <a:xfrm>
            <a:off x="1187076" y="981288"/>
            <a:ext cx="8761413" cy="706964"/>
          </a:xfrm>
        </p:spPr>
        <p:txBody>
          <a:bodyPr/>
          <a:lstStyle/>
          <a:p>
            <a:pPr algn="ctr"/>
            <a:r>
              <a:rPr lang="en-US" b="1" dirty="0"/>
              <a:t>Bivariate Analysis – Age Distribution By Income Level</a:t>
            </a:r>
            <a:endParaRPr lang="th-TH" dirty="0"/>
          </a:p>
        </p:txBody>
      </p:sp>
      <p:pic>
        <p:nvPicPr>
          <p:cNvPr id="5" name="Content Placeholder 4">
            <a:extLst>
              <a:ext uri="{FF2B5EF4-FFF2-40B4-BE49-F238E27FC236}">
                <a16:creationId xmlns:a16="http://schemas.microsoft.com/office/drawing/2014/main" id="{90C2EA39-2C72-4580-A252-2A5BA8948B3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54564" y="2389823"/>
            <a:ext cx="6254155" cy="4067804"/>
          </a:xfrm>
        </p:spPr>
      </p:pic>
    </p:spTree>
    <p:extLst>
      <p:ext uri="{BB962C8B-B14F-4D97-AF65-F5344CB8AC3E}">
        <p14:creationId xmlns:p14="http://schemas.microsoft.com/office/powerpoint/2010/main" val="2346669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B2988-ADAF-4330-8BF3-DB6535841D85}"/>
              </a:ext>
            </a:extLst>
          </p:cNvPr>
          <p:cNvSpPr>
            <a:spLocks noGrp="1"/>
          </p:cNvSpPr>
          <p:nvPr>
            <p:ph type="title"/>
          </p:nvPr>
        </p:nvSpPr>
        <p:spPr>
          <a:xfrm>
            <a:off x="1154954" y="838200"/>
            <a:ext cx="8825659" cy="961812"/>
          </a:xfrm>
        </p:spPr>
        <p:txBody>
          <a:bodyPr/>
          <a:lstStyle/>
          <a:p>
            <a:pPr algn="ctr"/>
            <a:r>
              <a:rPr lang="en-US" b="1" dirty="0"/>
              <a:t>Bivariate Analysis – Age distribution By</a:t>
            </a:r>
            <a:br>
              <a:rPr lang="en-US" b="1" dirty="0"/>
            </a:br>
            <a:r>
              <a:rPr lang="en-US" b="1" dirty="0"/>
              <a:t>Income Level</a:t>
            </a:r>
            <a:endParaRPr lang="th-TH" b="1" dirty="0"/>
          </a:p>
        </p:txBody>
      </p:sp>
      <p:pic>
        <p:nvPicPr>
          <p:cNvPr id="7" name="Content Placeholder 6">
            <a:extLst>
              <a:ext uri="{FF2B5EF4-FFF2-40B4-BE49-F238E27FC236}">
                <a16:creationId xmlns:a16="http://schemas.microsoft.com/office/drawing/2014/main" id="{3CC35E21-0722-462E-8CE0-99709D0624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53820" y="2852311"/>
            <a:ext cx="8824913" cy="2415758"/>
          </a:xfrm>
        </p:spPr>
      </p:pic>
    </p:spTree>
    <p:extLst>
      <p:ext uri="{BB962C8B-B14F-4D97-AF65-F5344CB8AC3E}">
        <p14:creationId xmlns:p14="http://schemas.microsoft.com/office/powerpoint/2010/main" val="4271051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EC4C-1557-44F8-839D-FAF1402FD23A}"/>
              </a:ext>
            </a:extLst>
          </p:cNvPr>
          <p:cNvSpPr>
            <a:spLocks noGrp="1"/>
          </p:cNvSpPr>
          <p:nvPr>
            <p:ph type="title"/>
          </p:nvPr>
        </p:nvSpPr>
        <p:spPr/>
        <p:txBody>
          <a:bodyPr/>
          <a:lstStyle/>
          <a:p>
            <a:pPr algn="ctr"/>
            <a:r>
              <a:rPr lang="en-US" b="1" dirty="0"/>
              <a:t>   Churn Status</a:t>
            </a:r>
            <a:endParaRPr lang="th-TH" b="1" dirty="0"/>
          </a:p>
        </p:txBody>
      </p:sp>
      <p:pic>
        <p:nvPicPr>
          <p:cNvPr id="9" name="Content Placeholder 8">
            <a:extLst>
              <a:ext uri="{FF2B5EF4-FFF2-40B4-BE49-F238E27FC236}">
                <a16:creationId xmlns:a16="http://schemas.microsoft.com/office/drawing/2014/main" id="{DF067A8D-3D04-4351-8629-D9AE8FDF776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767637" y="2425699"/>
            <a:ext cx="3536045" cy="4328881"/>
          </a:xfrm>
        </p:spPr>
      </p:pic>
    </p:spTree>
    <p:extLst>
      <p:ext uri="{BB962C8B-B14F-4D97-AF65-F5344CB8AC3E}">
        <p14:creationId xmlns:p14="http://schemas.microsoft.com/office/powerpoint/2010/main" val="370011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F9A0-E071-45BA-B030-4FFFDE9FC76B}"/>
              </a:ext>
            </a:extLst>
          </p:cNvPr>
          <p:cNvSpPr>
            <a:spLocks noGrp="1"/>
          </p:cNvSpPr>
          <p:nvPr>
            <p:ph type="title"/>
          </p:nvPr>
        </p:nvSpPr>
        <p:spPr>
          <a:xfrm>
            <a:off x="1262109" y="935568"/>
            <a:ext cx="8605791" cy="893232"/>
          </a:xfrm>
        </p:spPr>
        <p:txBody>
          <a:bodyPr/>
          <a:lstStyle/>
          <a:p>
            <a:pPr algn="ctr"/>
            <a:r>
              <a:rPr lang="en-US" b="1" dirty="0"/>
              <a:t>Point-Biserial Correlation &amp; Association with Churn Status</a:t>
            </a:r>
            <a:endParaRPr lang="th-TH" b="1" dirty="0"/>
          </a:p>
        </p:txBody>
      </p:sp>
      <p:pic>
        <p:nvPicPr>
          <p:cNvPr id="5" name="Content Placeholder 4">
            <a:extLst>
              <a:ext uri="{FF2B5EF4-FFF2-40B4-BE49-F238E27FC236}">
                <a16:creationId xmlns:a16="http://schemas.microsoft.com/office/drawing/2014/main" id="{EFBE5F6E-D760-452B-AA16-B491CE081B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4035" y="2514600"/>
            <a:ext cx="6393166" cy="3771900"/>
          </a:xfrm>
        </p:spPr>
      </p:pic>
    </p:spTree>
    <p:extLst>
      <p:ext uri="{BB962C8B-B14F-4D97-AF65-F5344CB8AC3E}">
        <p14:creationId xmlns:p14="http://schemas.microsoft.com/office/powerpoint/2010/main" val="5853206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148</TotalTime>
  <Words>2985</Words>
  <Application>Microsoft Office PowerPoint</Application>
  <PresentationFormat>Widescreen</PresentationFormat>
  <Paragraphs>135</Paragraphs>
  <Slides>12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Century Gothic</vt:lpstr>
      <vt:lpstr>Consolas</vt:lpstr>
      <vt:lpstr>Google Sans</vt:lpstr>
      <vt:lpstr>Google Sans Text</vt:lpstr>
      <vt:lpstr>Wingdings 3</vt:lpstr>
      <vt:lpstr>Ion Boardroom</vt:lpstr>
      <vt:lpstr>EDA On Customer Data</vt:lpstr>
      <vt:lpstr>Problem Statement</vt:lpstr>
      <vt:lpstr>Age Distribution</vt:lpstr>
      <vt:lpstr>Amount Spent Distribution</vt:lpstr>
      <vt:lpstr>Login Frequency Distribution</vt:lpstr>
      <vt:lpstr>Gender &amp; Marital Status Relationship</vt:lpstr>
      <vt:lpstr>Bivariate Analysis – Gender vs Income Level</vt:lpstr>
      <vt:lpstr>Bivariate Analysis – Marital Status vs Income Level</vt:lpstr>
      <vt:lpstr>Bivariate Analysis – Age Distribution By Income Level</vt:lpstr>
      <vt:lpstr>Bivariate Analysis – Age distribution By Income Level</vt:lpstr>
      <vt:lpstr>   Churn Status</vt:lpstr>
      <vt:lpstr>Point-Biserial Correlation &amp; Association with Churn 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On Customer Data</dc:title>
  <dc:creator>pc</dc:creator>
  <cp:lastModifiedBy>pc</cp:lastModifiedBy>
  <cp:revision>19</cp:revision>
  <dcterms:created xsi:type="dcterms:W3CDTF">2026-01-21T16:18:26Z</dcterms:created>
  <dcterms:modified xsi:type="dcterms:W3CDTF">2026-03-08T17:17:32Z</dcterms:modified>
</cp:coreProperties>
</file>